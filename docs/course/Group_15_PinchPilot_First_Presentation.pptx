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6"/>
    <p:sldId id="266" r:id="rId5"/>
    <p:sldId id="267" r:id="rId4"/>
    <p:sldId id="268" r:id="rId3"/>
    <p:sldId id="269" r:id="rId2"/>
    <p:sldId id="270" r:id="rId21"/>
    <p:sldId id="271" r:id="rId22"/>
    <p:sldId id="272" r:id="rId23"/>
    <p:sldId id="27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4.xml"/><Relationship Id="rId3" Type="http://schemas.openxmlformats.org/officeDocument/2006/relationships/slide" Target="slides/slide13.xml"/><Relationship Id="rId4" Type="http://schemas.openxmlformats.org/officeDocument/2006/relationships/slide" Target="slides/slide1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36B6BA-A3F2-4EC6-B4EF-AFF6BB2D1ECC}" type="datetimeFigureOut">
              <a:rPr lang="en-SG" smtClean="0"/>
              <a:t>25/9/2026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CBB8E6-7FD9-4269-A43F-F793DAFB8F4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77371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77C34-C794-2507-61C5-08496D427A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DD2153-92CA-4789-CF91-7C97686F5D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16976-E1DB-3548-D68E-3C7C89A23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39145-EEEC-4BA3-9E26-EE5897625884}" type="datetimeFigureOut">
              <a:rPr lang="en-SG" smtClean="0"/>
              <a:t>25/9/2026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48790-A8BA-A663-8401-FC9FBC8E5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BD8CD-EACE-F2A1-1192-DDD6A23FE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8B40D-2217-46C5-86F8-4B04BA428D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85626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A5E2B-6956-9D18-F927-74A0D6BE0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E9099-0DD3-0284-B93C-2BA3068CA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14AEF-AC73-47AB-7306-A75E4892C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39145-EEEC-4BA3-9E26-EE5897625884}" type="datetimeFigureOut">
              <a:rPr lang="en-SG" smtClean="0"/>
              <a:t>25/9/2026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8A381-94C0-71D7-633C-1E4B86A44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0AD73-01E1-D4D0-7F1E-B096E3BA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8B40D-2217-46C5-86F8-4B04BA428D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04145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B10FF-8A4E-D8B6-5DDE-427ED69B2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19849-5EB0-A6D7-6028-D20092B57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E21F8-A761-44A1-EDF4-4C82A49EE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39145-EEEC-4BA3-9E26-EE5897625884}" type="datetimeFigureOut">
              <a:rPr lang="en-SG" smtClean="0"/>
              <a:t>25/9/2026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4AC79-61BE-4C45-6840-C6F339DE4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8BDC0-38B2-CBA7-446D-3928E1489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8B40D-2217-46C5-86F8-4B04BA428D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01123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0C80E-10AE-3AE7-36A1-0FBBB9F5F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B5A89-7002-DE6C-5EFB-41C214257D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75635-16D7-71F3-F81E-D30911624C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80F701-27E1-D06A-7EE7-F546A6291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39145-EEEC-4BA3-9E26-EE5897625884}" type="datetimeFigureOut">
              <a:rPr lang="en-SG" smtClean="0"/>
              <a:t>25/9/2026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E5376-6A01-2562-F490-E9D0A1563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F5027-8A14-0041-ACE3-B7C35F3BD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8B40D-2217-46C5-86F8-4B04BA428D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48677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4B9FD-566B-2992-2D6D-E38EF5B05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6305E-7034-8C51-BE2F-35947F82E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8CBD3F-CA13-0161-23EA-AA339CEBD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716A17-9346-4A4C-6396-95DC6CC48A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95D313-657E-D8FC-F996-CF1D4E5835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E62F53-87D1-8757-3CB3-35D6D2E80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39145-EEEC-4BA3-9E26-EE5897625884}" type="datetimeFigureOut">
              <a:rPr lang="en-SG" smtClean="0"/>
              <a:t>25/9/2026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CB9BD6-DA4F-A07D-CBC6-408B13F44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0EFD99-528C-8B7A-8528-B6E48041F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8B40D-2217-46C5-86F8-4B04BA428D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78011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30590-89E1-6394-3645-0E86E6146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04DE6C-AED3-6951-6216-F48B7CA87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39145-EEEC-4BA3-9E26-EE5897625884}" type="datetimeFigureOut">
              <a:rPr lang="en-SG" smtClean="0"/>
              <a:t>25/9/2026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455063-3089-76B2-2EC9-A55B0BDA8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8D77FE-5FBB-5CBD-61E1-9E2254AB3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8B40D-2217-46C5-86F8-4B04BA428D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9760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AB136D-BF3D-A6A6-3CE1-DE7BCB5E9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39145-EEEC-4BA3-9E26-EE5897625884}" type="datetimeFigureOut">
              <a:rPr lang="en-SG" smtClean="0"/>
              <a:t>25/9/2026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2853F1-46D8-EFF9-624E-2F9831126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2DB2B-8C2F-6128-A0F1-391E370B7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8B40D-2217-46C5-86F8-4B04BA428D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78771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0018B-C396-D09C-AA6B-18F7C54CF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99F4D-DAB2-DAB5-D53B-3E62F6862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C9B4FB-FA3F-3724-2258-3207CD98E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DD4E38-8097-871A-FCBF-1BA3FC008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39145-EEEC-4BA3-9E26-EE5897625884}" type="datetimeFigureOut">
              <a:rPr lang="en-SG" smtClean="0"/>
              <a:t>25/9/2026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C19851-1799-8C14-E668-7D3280721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05C3A-1D0B-DE1B-FA39-315A428F4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8B40D-2217-46C5-86F8-4B04BA428D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45943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263C1-0F15-C295-316E-863292C76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C3C9D8-EBEC-84A1-CD84-056EADF961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2D0029-51AC-1ADC-8EE1-6F43F06238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8478B-3E0F-4E07-5C60-B15CA84CC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39145-EEEC-4BA3-9E26-EE5897625884}" type="datetimeFigureOut">
              <a:rPr lang="en-SG" smtClean="0"/>
              <a:t>25/9/2026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81B97-D745-EC8E-A9B8-A938D76B9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9F7D-55A4-E0B0-BD37-C4F7713BB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8B40D-2217-46C5-86F8-4B04BA428D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08963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657E1-29C3-DE7B-1122-B54AF846A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288EAC-E0B8-DED1-CE2E-3EC6BF0C9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C33B0-61B5-F2E1-0BC8-0FE4C7CFC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39145-EEEC-4BA3-9E26-EE5897625884}" type="datetimeFigureOut">
              <a:rPr lang="en-SG" smtClean="0"/>
              <a:t>25/9/2026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5A0F7-5B01-1090-97D1-8CB903A18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28C94-2A29-7241-BDAA-7D92736FE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8B40D-2217-46C5-86F8-4B04BA428D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22706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5D832F-E222-D7F3-5B12-12B15C05B1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9AE1B4-CBE2-4DD6-705F-35F8DD078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1042A-4805-B20A-6A79-8F0C52DA5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39145-EEEC-4BA3-9E26-EE5897625884}" type="datetimeFigureOut">
              <a:rPr lang="en-SG" smtClean="0"/>
              <a:t>25/9/2026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04E0B-0D33-1042-0F47-4953C0164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DE401-82D1-D0F8-7A02-34EA662E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8B40D-2217-46C5-86F8-4B04BA428D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28782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498016" y="1473693"/>
            <a:ext cx="10855784" cy="4359890"/>
          </a:xfrm>
          <a:prstGeom prst="rect">
            <a:avLst/>
          </a:prstGeom>
        </p:spPr>
        <p:txBody>
          <a:bodyPr/>
          <a:lstStyle>
            <a:lvl1pPr marL="267884" indent="-267884">
              <a:lnSpc>
                <a:spcPct val="120000"/>
              </a:lnSpc>
              <a:spcAft>
                <a:spcPts val="450"/>
              </a:spcAft>
              <a:buClr>
                <a:schemeClr val="tx1"/>
              </a:buClr>
              <a:buSzPct val="100000"/>
              <a:defRPr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672704" indent="-266700">
              <a:lnSpc>
                <a:spcPct val="120000"/>
              </a:lnSpc>
              <a:spcAft>
                <a:spcPts val="450"/>
              </a:spcAft>
              <a:buClr>
                <a:schemeClr val="tx1"/>
              </a:buClr>
              <a:buFont typeface="Cambria" panose="02040503050406030204" pitchFamily="18" charset="0"/>
              <a:buChar char="⎯"/>
              <a:defRPr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004888" indent="-265510">
              <a:lnSpc>
                <a:spcPct val="120000"/>
              </a:lnSpc>
              <a:spcAft>
                <a:spcPts val="450"/>
              </a:spcAft>
              <a:buClr>
                <a:schemeClr val="tx1"/>
              </a:buClr>
              <a:buSzPct val="100000"/>
              <a:buFont typeface="Cambria" panose="02040503050406030204" pitchFamily="18" charset="0"/>
              <a:buChar char="▴"/>
              <a:defRPr>
                <a:solidFill>
                  <a:schemeClr val="bg2">
                    <a:lumMod val="25000"/>
                  </a:schemeClr>
                </a:solidFill>
                <a:latin typeface="+mn-lt"/>
                <a:cs typeface="Arial" panose="020B0604020202020204" pitchFamily="34" charset="0"/>
              </a:defRPr>
            </a:lvl3pPr>
            <a:lvl4pPr marL="1140590" indent="-267884">
              <a:lnSpc>
                <a:spcPct val="120000"/>
              </a:lnSpc>
              <a:buClr>
                <a:srgbClr val="FF0000"/>
              </a:buClr>
              <a:buSzPct val="80000"/>
              <a:buFont typeface="Wingdings" pitchFamily="2" charset="2"/>
              <a:buChar char="Ø"/>
              <a:defRPr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pic>
        <p:nvPicPr>
          <p:cNvPr id="14" name="Picture 13" descr="Text, logo&#10;&#10;Description automatically generated">
            <a:extLst>
              <a:ext uri="{FF2B5EF4-FFF2-40B4-BE49-F238E27FC236}">
                <a16:creationId xmlns:a16="http://schemas.microsoft.com/office/drawing/2014/main" id="{BC273F04-A203-479E-A601-8394ED9D37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00130" y="111428"/>
            <a:ext cx="2591871" cy="954657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AF806888-76DF-41DF-8145-862D5B113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8017" y="15220"/>
            <a:ext cx="9262929" cy="1161664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0070C0"/>
                </a:solidFill>
                <a:latin typeface="+mj-lt"/>
              </a:defRPr>
            </a:lvl1pPr>
          </a:lstStyle>
          <a:p>
            <a:r>
              <a:rPr lang="en-GB" dirty="0"/>
              <a:t>Title here</a:t>
            </a:r>
            <a:endParaRPr lang="en-US" dirty="0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CED02714-EDB9-746D-7047-0705A8A61B1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6536988" y="6492881"/>
            <a:ext cx="4816813" cy="365125"/>
          </a:xfrm>
        </p:spPr>
        <p:txBody>
          <a:bodyPr/>
          <a:lstStyle/>
          <a:p>
            <a:pPr algn="l"/>
            <a:r>
              <a:rPr lang="en-SG" sz="750" dirty="0"/>
              <a:t>© National University of Singapore</a:t>
            </a:r>
            <a:endParaRPr lang="en-SG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0E9986C9-A00B-6B19-CEE4-2BAD5640537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37776" y="6492881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48443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851289" y="2121318"/>
            <a:ext cx="9882135" cy="1280230"/>
          </a:xfrm>
        </p:spPr>
        <p:txBody>
          <a:bodyPr anchor="t">
            <a:normAutofit/>
          </a:bodyPr>
          <a:lstStyle>
            <a:lvl1pPr algn="l">
              <a:defRPr sz="4400" b="1" cap="all" baseline="0">
                <a:solidFill>
                  <a:srgbClr val="173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1851289" y="4127589"/>
            <a:ext cx="9129183" cy="144110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92325"/>
            <a:ext cx="1570464" cy="109316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46301" y="-22280"/>
            <a:ext cx="379564" cy="537321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92325"/>
            <a:ext cx="1570464" cy="109316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46301" y="-22280"/>
            <a:ext cx="379564" cy="5373216"/>
          </a:xfrm>
          <a:prstGeom prst="rect">
            <a:avLst/>
          </a:prstGeom>
        </p:spPr>
      </p:pic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31101" y="6492873"/>
            <a:ext cx="1403927" cy="2668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SG" dirty="0"/>
              <a:t>Page </a:t>
            </a:r>
            <a:fld id="{2F63C605-4FC6-46DE-BC90-871762EA3F52}" type="slidenum">
              <a:rPr lang="en-SG" smtClean="0"/>
              <a:pPr algn="ctr"/>
              <a:t>‹#›</a:t>
            </a:fld>
            <a:endParaRPr lang="en-SG" dirty="0"/>
          </a:p>
        </p:txBody>
      </p:sp>
      <p:pic>
        <p:nvPicPr>
          <p:cNvPr id="16" name="Picture 15" descr="Text, logo&#10;&#10;Description automatically generated">
            <a:extLst>
              <a:ext uri="{FF2B5EF4-FFF2-40B4-BE49-F238E27FC236}">
                <a16:creationId xmlns:a16="http://schemas.microsoft.com/office/drawing/2014/main" id="{AF7E7A68-C5A8-F140-6942-CEE76DEE11A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695841" y="186812"/>
            <a:ext cx="2572030" cy="95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6121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1" y="250832"/>
            <a:ext cx="8800551" cy="545561"/>
          </a:xfrm>
        </p:spPr>
        <p:txBody>
          <a:bodyPr>
            <a:normAutofit/>
          </a:bodyPr>
          <a:lstStyle>
            <a:lvl1pPr>
              <a:defRPr sz="3200" b="1" cap="none" baseline="0">
                <a:solidFill>
                  <a:srgbClr val="173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51" y="250831"/>
            <a:ext cx="778459" cy="545560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167028"/>
            <a:ext cx="10515600" cy="4143375"/>
          </a:xfrm>
        </p:spPr>
        <p:txBody>
          <a:bodyPr/>
          <a:lstStyle>
            <a:lvl1pPr marL="514350" indent="-514350" algn="just">
              <a:buFont typeface="Arial" panose="020B0604020202020204" pitchFamily="34" charset="0"/>
              <a:buChar char="•"/>
              <a:defRPr b="0" cap="none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 dirty="0"/>
              <a:t>Agenda 1</a:t>
            </a:r>
          </a:p>
          <a:p>
            <a:pPr lvl="0"/>
            <a:r>
              <a:rPr lang="en-US" dirty="0"/>
              <a:t>Agenda 2</a:t>
            </a:r>
          </a:p>
          <a:p>
            <a:pPr lvl="0"/>
            <a:r>
              <a:rPr lang="en-US" dirty="0"/>
              <a:t>Agenda 3</a:t>
            </a:r>
          </a:p>
          <a:p>
            <a:pPr lvl="0"/>
            <a:r>
              <a:rPr lang="en-US" dirty="0"/>
              <a:t>Agenda 4</a:t>
            </a:r>
          </a:p>
          <a:p>
            <a:pPr lvl="0"/>
            <a:r>
              <a:rPr lang="en-US" dirty="0"/>
              <a:t>Agenda 5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51" y="250831"/>
            <a:ext cx="778459" cy="545560"/>
          </a:xfrm>
          <a:prstGeom prst="rect">
            <a:avLst/>
          </a:prstGeom>
        </p:spPr>
      </p:pic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31101" y="6492873"/>
            <a:ext cx="1403927" cy="2668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SG" dirty="0"/>
              <a:t>Page </a:t>
            </a:r>
            <a:fld id="{2F63C605-4FC6-46DE-BC90-871762EA3F52}" type="slidenum">
              <a:rPr lang="en-SG" smtClean="0"/>
              <a:pPr algn="ctr"/>
              <a:t>‹#›</a:t>
            </a:fld>
            <a:endParaRPr lang="en-SG" dirty="0"/>
          </a:p>
        </p:txBody>
      </p:sp>
      <p:pic>
        <p:nvPicPr>
          <p:cNvPr id="10" name="Picture 9" descr="Text, logo&#10;&#10;Description automatically generated">
            <a:extLst>
              <a:ext uri="{FF2B5EF4-FFF2-40B4-BE49-F238E27FC236}">
                <a16:creationId xmlns:a16="http://schemas.microsoft.com/office/drawing/2014/main" id="{AF7E7A68-C5A8-F140-6942-CEE76DEE11A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95841" y="186812"/>
            <a:ext cx="2572030" cy="95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7191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4B0F39-C70C-3003-7874-79A090A89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46F5A-0848-09FD-1AB1-A018299C3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1C82F-FD0A-DA13-AA25-7C0ACB9827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539145-EEEC-4BA3-9E26-EE5897625884}" type="datetimeFigureOut">
              <a:rPr lang="en-SG" smtClean="0"/>
              <a:t>25/9/2026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D8EC-A8CE-4A30-A933-EC6F08EB4C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E8AE4-0B10-B3D2-1D8A-A472EF91F1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A8B40D-2217-46C5-86F8-4B04BA428D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68079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3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3.png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800" b="1" i="0" cap="none">
                <a:solidFill>
                  <a:srgbClr val="004282"/>
                </a:solidFill>
                <a:latin typeface="Arial"/>
              </a:rPr>
              <a:t>PinchPilot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1847088" y="3520440"/>
            <a:ext cx="9418320" cy="2286000"/>
          </a:xfrm>
        </p:spPr>
        <p:txBody>
          <a:bodyPr wrap="square">
            <a:noAutofit/>
          </a:bodyPr>
          <a:lstStyle/>
          <a:p>
            <a:pPr algn="l">
              <a:spcAft>
                <a:spcPts val="2200"/>
              </a:spcAft>
            </a:pPr>
            <a:r>
              <a:rPr sz="2400" b="0" i="0">
                <a:solidFill>
                  <a:srgbClr val="1F2A37"/>
                </a:solidFill>
                <a:latin typeface="Arial"/>
              </a:rPr>
              <a:t>Small hand movements for webcam desktop control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777"/>
                </a:solidFill>
                <a:latin typeface="Arial"/>
              </a:rPr>
              <a:t>PRS Practice Module  ·  First Project Presentation  ·  Group 15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2A37"/>
                </a:solidFill>
                <a:latin typeface="Arial"/>
              </a:rPr>
              <a:t>HE ZIHANG   ·   WEI YI   ·   CHI YONGJUN</a:t>
            </a:r>
          </a:p>
          <a:p>
            <a:pPr algn="l"/>
            <a:r>
              <a:rPr sz="1500" b="0" i="0">
                <a:solidFill>
                  <a:srgbClr val="5B6777"/>
                </a:solidFill>
                <a:latin typeface="Arial"/>
              </a:rPr>
              <a:t>6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004282"/>
                </a:solidFill>
                <a:latin typeface="Arial"/>
              </a:rPr>
              <a:t>What PinchPilot will do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0E9986C9-A00B-6B19-CEE4-2BAD5640537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37776" y="6492881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 sz="1100">
                <a:latin typeface="Arial"/>
              </a:rPr>
              <a:pPr/>
              <a:t>‹#›</a:t>
            </a:fld>
            <a:endParaRPr lang="en-SG" dirty="0"/>
          </a:p>
        </p:txBody>
      </p:sp>
      <p:sp>
        <p:nvSpPr>
          <p:cNvPr id="5" name="TextBox 4"/>
          <p:cNvSpPr txBox="1"/>
          <p:nvPr/>
        </p:nvSpPr>
        <p:spPr>
          <a:xfrm>
            <a:off x="493776" y="6419088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i="0">
                <a:solidFill>
                  <a:srgbClr val="004282"/>
                </a:solidFill>
                <a:latin typeface="Arial"/>
              </a:rPr>
              <a:t>1  Objectives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2  Scope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3  Data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4  Technical approach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5  Done so far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" y="1243584"/>
            <a:ext cx="1120140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04282"/>
                </a:solidFill>
                <a:latin typeface="Arial"/>
              </a:rPr>
              <a:t>A webcam can see a hand, but that does not make it a comfortable pointer. </a:t>
            </a:r>
            <a:r>
              <a:rPr sz="1800" b="0" i="0">
                <a:solidFill>
                  <a:srgbClr val="1F2A37"/>
                </a:solidFill>
                <a:latin typeface="Arial"/>
              </a:rPr>
              <a:t>PinchPilot will let laptop users point, click, drag and scroll with small hand movements and finger pinches.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2121408"/>
            <a:ext cx="260604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76656" y="2286000"/>
            <a:ext cx="384048" cy="384048"/>
          </a:xfrm>
          <a:prstGeom prst="ellipse">
            <a:avLst/>
          </a:prstGeom>
          <a:solidFill>
            <a:srgbClr val="9AA6B5"/>
          </a:solidFill>
          <a:ln>
            <a:noFill/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8600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i="0">
                <a:solidFill>
                  <a:srgbClr val="004282"/>
                </a:solidFill>
                <a:latin typeface="Arial"/>
              </a:rPr>
              <a:t>Show the hand</a:t>
            </a:r>
          </a:p>
        </p:txBody>
      </p:sp>
      <p:pic>
        <p:nvPicPr>
          <p:cNvPr id="10" name="Picture 9" descr="hand_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743200"/>
            <a:ext cx="1536192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6656" y="448056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5B6777"/>
                </a:solidFill>
                <a:latin typeface="Arial"/>
              </a:rPr>
              <a:t>Clear in the preview, forearm resting on the desk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27248" y="3538728"/>
            <a:ext cx="203911" cy="0"/>
          </a:xfrm>
          <a:prstGeom prst="line">
            <a:avLst/>
          </a:prstGeom>
          <a:ln w="19050">
            <a:solidFill>
              <a:srgbClr val="5B6777"/>
            </a:solidFill>
            <a:tailEnd type="triangle" w="med" len="med"/>
          </a:ln>
        </p:spPr>
      </p:cxnSp>
      <p:sp>
        <p:nvSpPr>
          <p:cNvPr id="13" name="Rounded Rectangle 12"/>
          <p:cNvSpPr/>
          <p:nvPr/>
        </p:nvSpPr>
        <p:spPr>
          <a:xfrm>
            <a:off x="3358591" y="2121408"/>
            <a:ext cx="2606040" cy="324612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 w="22225">
            <a:solidFill>
              <a:srgbClr val="004282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41471" y="2286000"/>
            <a:ext cx="384048" cy="384048"/>
          </a:xfrm>
          <a:prstGeom prst="ellipse">
            <a:avLst/>
          </a:prstGeom>
          <a:solidFill>
            <a:srgbClr val="004282"/>
          </a:solidFill>
          <a:ln>
            <a:noFill/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5247" y="228600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i="0">
                <a:solidFill>
                  <a:srgbClr val="004282"/>
                </a:solidFill>
                <a:latin typeface="Arial"/>
              </a:rPr>
              <a:t>Pinch to move</a:t>
            </a:r>
          </a:p>
        </p:txBody>
      </p:sp>
      <p:pic>
        <p:nvPicPr>
          <p:cNvPr id="16" name="Picture 15" descr="hand_mo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3515" y="2743200"/>
            <a:ext cx="1536192" cy="16459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541471" y="448056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5B6777"/>
                </a:solidFill>
                <a:latin typeface="Arial"/>
              </a:rPr>
              <a:t>Thumb and middle finger together; small hand or wrist motion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92063" y="3538728"/>
            <a:ext cx="203911" cy="0"/>
          </a:xfrm>
          <a:prstGeom prst="line">
            <a:avLst/>
          </a:prstGeom>
          <a:ln w="19050">
            <a:solidFill>
              <a:srgbClr val="5B6777"/>
            </a:solidFill>
            <a:tailEnd type="triangle" w="med" len="med"/>
          </a:ln>
        </p:spPr>
      </p:cxnSp>
      <p:sp>
        <p:nvSpPr>
          <p:cNvPr id="19" name="Rounded Rectangle 18"/>
          <p:cNvSpPr/>
          <p:nvPr/>
        </p:nvSpPr>
        <p:spPr>
          <a:xfrm>
            <a:off x="6223406" y="2121408"/>
            <a:ext cx="260604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6286" y="2286000"/>
            <a:ext cx="384048" cy="384048"/>
          </a:xfrm>
          <a:prstGeom prst="ellipse">
            <a:avLst/>
          </a:prstGeom>
          <a:solidFill>
            <a:srgbClr val="9AA6B5"/>
          </a:solidFill>
          <a:ln>
            <a:noFill/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0062" y="228600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i="0">
                <a:solidFill>
                  <a:srgbClr val="004282"/>
                </a:solidFill>
                <a:latin typeface="Arial"/>
              </a:rPr>
              <a:t>Click or drag</a:t>
            </a:r>
          </a:p>
        </p:txBody>
      </p:sp>
      <p:pic>
        <p:nvPicPr>
          <p:cNvPr id="22" name="Picture 21" descr="hand_tripo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330" y="2743200"/>
            <a:ext cx="1536192" cy="1645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6286" y="448056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5B6777"/>
                </a:solidFill>
                <a:latin typeface="Arial"/>
              </a:rPr>
              <a:t>Index joins briefly: click. All three held: drag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56878" y="3538728"/>
            <a:ext cx="203911" cy="0"/>
          </a:xfrm>
          <a:prstGeom prst="line">
            <a:avLst/>
          </a:prstGeom>
          <a:ln w="19050">
            <a:solidFill>
              <a:srgbClr val="5B6777"/>
            </a:solidFill>
            <a:tailEnd type="triangle" w="med" len="med"/>
          </a:ln>
        </p:spPr>
      </p:cxnSp>
      <p:sp>
        <p:nvSpPr>
          <p:cNvPr id="25" name="Rounded Rectangle 24"/>
          <p:cNvSpPr/>
          <p:nvPr/>
        </p:nvSpPr>
        <p:spPr>
          <a:xfrm>
            <a:off x="9088221" y="2121408"/>
            <a:ext cx="260604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71101" y="2286000"/>
            <a:ext cx="384048" cy="384048"/>
          </a:xfrm>
          <a:prstGeom prst="ellipse">
            <a:avLst/>
          </a:prstGeom>
          <a:solidFill>
            <a:srgbClr val="9AA6B5"/>
          </a:solidFill>
          <a:ln>
            <a:noFill/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4877" y="228600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i="0">
                <a:solidFill>
                  <a:srgbClr val="004282"/>
                </a:solidFill>
                <a:latin typeface="Arial"/>
              </a:rPr>
              <a:t>Let go to pause</a:t>
            </a:r>
          </a:p>
        </p:txBody>
      </p:sp>
      <p:pic>
        <p:nvPicPr>
          <p:cNvPr id="28" name="Picture 27" descr="hand_open_mut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3145" y="2743200"/>
            <a:ext cx="1536192" cy="16459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271101" y="448056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5B6777"/>
                </a:solidFill>
                <a:latin typeface="Arial"/>
              </a:rPr>
              <a:t>The pointer stays where it is; rest or reposition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391241" y="5367527"/>
            <a:ext cx="0" cy="237744"/>
          </a:xfrm>
          <a:prstGeom prst="line">
            <a:avLst/>
          </a:prstGeom>
          <a:ln w="19050">
            <a:solidFill>
              <a:srgbClr val="007F86"/>
            </a:solidFill>
          </a:ln>
        </p:spPr>
      </p:cxnSp>
      <p:cxnSp>
        <p:nvCxnSpPr>
          <p:cNvPr id="31" name="Connector 30"/>
          <p:cNvCxnSpPr/>
          <p:nvPr/>
        </p:nvCxnSpPr>
        <p:spPr>
          <a:xfrm flipH="1">
            <a:off x="4661611" y="5605271"/>
            <a:ext cx="5729630" cy="0"/>
          </a:xfrm>
          <a:prstGeom prst="line">
            <a:avLst/>
          </a:prstGeom>
          <a:ln w="19050">
            <a:solidFill>
              <a:srgbClr val="007F86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4661611" y="5394959"/>
            <a:ext cx="0" cy="210312"/>
          </a:xfrm>
          <a:prstGeom prst="line">
            <a:avLst/>
          </a:prstGeom>
          <a:ln w="19050">
            <a:solidFill>
              <a:srgbClr val="007F86"/>
            </a:solidFill>
            <a:tailEnd type="triangle" w="med" len="med"/>
          </a:ln>
        </p:spPr>
      </p:cxnSp>
      <p:sp>
        <p:nvSpPr>
          <p:cNvPr id="33" name="Rectangle 32"/>
          <p:cNvSpPr/>
          <p:nvPr/>
        </p:nvSpPr>
        <p:spPr>
          <a:xfrm>
            <a:off x="6429146" y="5468112"/>
            <a:ext cx="219456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36576" rIns="36576" tIns="36576" bIns="36576" wrap="square">
            <a:noAutofit/>
          </a:bodyPr>
          <a:lstStyle/>
          <a:p>
            <a:pPr algn="ctr"/>
            <a:r>
              <a:rPr sz="1300" b="0" i="1">
                <a:solidFill>
                  <a:srgbClr val="007F86"/>
                </a:solidFill>
                <a:latin typeface="Arial"/>
              </a:rPr>
              <a:t>re-grip to continue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" y="5943600"/>
            <a:ext cx="11201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0" i="1">
                <a:solidFill>
                  <a:srgbClr val="5B6777"/>
                </a:solidFill>
                <a:latin typeface="Arial"/>
              </a:rPr>
              <a:t>An ordinary laptop webcam   ·   macOS and Windows   ·   used alongside the mouse or trackpad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004282"/>
                </a:solidFill>
                <a:latin typeface="Arial"/>
              </a:rPr>
              <a:t>Why webcam pointing is hard to use today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0E9986C9-A00B-6B19-CEE4-2BAD5640537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37776" y="6492881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 sz="1100">
                <a:latin typeface="Arial"/>
              </a:rPr>
              <a:pPr/>
              <a:t>‹#›</a:t>
            </a:fld>
            <a:endParaRPr lang="en-SG" dirty="0"/>
          </a:p>
        </p:txBody>
      </p:sp>
      <p:sp>
        <p:nvSpPr>
          <p:cNvPr id="5" name="TextBox 4"/>
          <p:cNvSpPr txBox="1"/>
          <p:nvPr/>
        </p:nvSpPr>
        <p:spPr>
          <a:xfrm>
            <a:off x="493776" y="6419088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i="0">
                <a:solidFill>
                  <a:srgbClr val="004282"/>
                </a:solidFill>
                <a:latin typeface="Arial"/>
              </a:rPr>
              <a:t>1  Objectives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2  Scope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3  Data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4  Technical approach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5  Done so far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" y="1261872"/>
            <a:ext cx="548640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004282"/>
                </a:solidFill>
                <a:latin typeface="Arial"/>
              </a:rPr>
              <a:t>A student is reading lecture notes on a laptop. </a:t>
            </a:r>
            <a:r>
              <a:rPr sz="1600" b="0" i="0">
                <a:solidFill>
                  <a:srgbClr val="1F2A37"/>
                </a:solidFill>
                <a:latin typeface="Arial"/>
              </a:rPr>
              <a:t>They want to follow a link, scroll on and keep reading, without reaching for the mouse each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2514600"/>
            <a:ext cx="1737360" cy="20574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pic>
        <p:nvPicPr>
          <p:cNvPr id="8" name="Picture 7" descr="scene_re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651760"/>
            <a:ext cx="1554480" cy="10308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5216" y="3840480"/>
            <a:ext cx="1554480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50" b="0" i="0">
                <a:solidFill>
                  <a:srgbClr val="5B6777"/>
                </a:solidFill>
                <a:latin typeface="Arial"/>
              </a:rPr>
              <a:t>Reach for the mouse, again and again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68296" y="2514600"/>
            <a:ext cx="1737360" cy="20574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pic>
        <p:nvPicPr>
          <p:cNvPr id="11" name="Picture 10" descr="scene_a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736" y="2651760"/>
            <a:ext cx="1554480" cy="10308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459736" y="3840480"/>
            <a:ext cx="1554480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50" b="0" i="0">
                <a:solidFill>
                  <a:srgbClr val="5B6777"/>
                </a:solidFill>
                <a:latin typeface="Arial"/>
              </a:rPr>
              <a:t>Hand in the air: tiring and shaky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42816" y="2514600"/>
            <a:ext cx="1737360" cy="2057400"/>
          </a:xfrm>
          <a:prstGeom prst="roundRect">
            <a:avLst>
              <a:gd name="adj" fmla="val 6000"/>
            </a:avLst>
          </a:prstGeom>
          <a:solidFill>
            <a:srgbClr val="E3F6F7"/>
          </a:solidFill>
          <a:ln w="9525">
            <a:solidFill>
              <a:srgbClr val="00B6BD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pic>
        <p:nvPicPr>
          <p:cNvPr id="14" name="Picture 13" descr="scene_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255" y="2651760"/>
            <a:ext cx="1554480" cy="103086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34255" y="3840480"/>
            <a:ext cx="1554480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2000"/>
              </a:lnSpc>
            </a:pPr>
            <a:r>
              <a:rPr sz="1250" b="1" i="0">
                <a:solidFill>
                  <a:srgbClr val="007F86"/>
                </a:solidFill>
                <a:latin typeface="Arial"/>
              </a:rPr>
              <a:t>Goal: forearm supported, small pinch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217920" y="1298448"/>
          <a:ext cx="5486400" cy="3282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5960"/>
                <a:gridCol w="1828800"/>
                <a:gridCol w="169164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With a webcam today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00428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What goes wrong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00428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Why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004282"/>
                    </a:solidFill>
                  </a:tcPr>
                </a:tc>
              </a:tr>
              <a:tr h="941832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Arial"/>
                        </a:rPr>
                        <a:t>Moving the pointer across the screen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Arial"/>
                        </a:rPr>
                        <a:t>The arm gets tired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Arial"/>
                        </a:rPr>
                        <a:t>Large movements held in the air [1]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41832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Arial"/>
                        </a:rPr>
                        <a:t>Making a small correction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Arial"/>
                        </a:rPr>
                        <a:t>The pointer shakes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Arial"/>
                        </a:rPr>
                        <a:t>Tracking jitter can be as large as the correction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941832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Arial"/>
                        </a:rPr>
                        <a:t>Pinching to click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Arial"/>
                        </a:rPr>
                        <a:t>The click lands off target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Arial"/>
                        </a:rPr>
                        <a:t>The click gesture itself moves the hand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493776" y="4846320"/>
            <a:ext cx="11201400" cy="868680"/>
          </a:xfrm>
          <a:prstGeom prst="roundRect">
            <a:avLst>
              <a:gd name="adj" fmla="val 12000"/>
            </a:avLst>
          </a:prstGeom>
          <a:solidFill>
            <a:srgbClr val="E3F6F7"/>
          </a:solidFill>
          <a:ln>
            <a:noFill/>
          </a:ln>
        </p:spPr>
        <p:txBody>
          <a:bodyPr rtlCol="0" anchor="ctr" lIns="274320" rIns="274320" tIns="36576" bIns="36576" wrap="square">
            <a:noAutofit/>
          </a:bodyPr>
          <a:lstStyle/>
          <a:p>
            <a:pPr algn="ctr"/>
            <a:r>
              <a:rPr sz="1700" b="1" i="0">
                <a:solidFill>
                  <a:srgbClr val="004282"/>
                </a:solidFill>
                <a:latin typeface="Arial"/>
              </a:rPr>
              <a:t>A gesture demo is not yet a daily tool: </a:t>
            </a:r>
            <a:r>
              <a:rPr sz="1700" b="0" i="0">
                <a:solidFill>
                  <a:srgbClr val="1F2A37"/>
                </a:solidFill>
                <a:latin typeface="Arial"/>
              </a:rPr>
              <a:t>users must be able to correct, click, rest and resume without the pointer jumping.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5852160"/>
            <a:ext cx="11201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1">
                <a:solidFill>
                  <a:srgbClr val="5B6777"/>
                </a:solidFill>
                <a:latin typeface="Arial"/>
              </a:rPr>
              <a:t>[1] Hincapié-Ramos et al., Consumed Endurance: a metric to quantify arm fatigue of mid-air interactions, CHI 2014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004282"/>
                </a:solidFill>
                <a:latin typeface="Arial"/>
              </a:rPr>
              <a:t>Project objectives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0E9986C9-A00B-6B19-CEE4-2BAD5640537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37776" y="6492881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 sz="1100">
                <a:latin typeface="Arial"/>
              </a:rPr>
              <a:pPr/>
              <a:t>‹#›</a:t>
            </a:fld>
            <a:endParaRPr lang="en-SG" dirty="0"/>
          </a:p>
        </p:txBody>
      </p:sp>
      <p:sp>
        <p:nvSpPr>
          <p:cNvPr id="5" name="TextBox 4"/>
          <p:cNvSpPr txBox="1"/>
          <p:nvPr/>
        </p:nvSpPr>
        <p:spPr>
          <a:xfrm>
            <a:off x="493776" y="6419088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i="0">
                <a:solidFill>
                  <a:srgbClr val="004282"/>
                </a:solidFill>
                <a:latin typeface="Arial"/>
              </a:rPr>
              <a:t>1  Objectives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2  Scope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3  Data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4  Technical approach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5  Done so far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325880"/>
            <a:ext cx="2651760" cy="306324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22376" y="1527048"/>
            <a:ext cx="438912" cy="438912"/>
          </a:xfrm>
          <a:prstGeom prst="ellipse">
            <a:avLst/>
          </a:prstGeom>
          <a:solidFill>
            <a:srgbClr val="004282"/>
          </a:solidFill>
          <a:ln>
            <a:noFill/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527048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 i="0">
                <a:solidFill>
                  <a:srgbClr val="007F86"/>
                </a:solidFill>
                <a:latin typeface="Arial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2148840"/>
            <a:ext cx="2240279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900" b="1" i="0">
                <a:solidFill>
                  <a:srgbClr val="004282"/>
                </a:solidFill>
                <a:latin typeface="Arial"/>
              </a:rPr>
              <a:t>A low-effort interaction</a:t>
            </a:r>
          </a:p>
          <a:p>
            <a:pPr algn="l">
              <a:lnSpc>
                <a:spcPct val="106000"/>
              </a:lnSpc>
            </a:pPr>
            <a:r>
              <a:rPr sz="1500" b="0" i="0">
                <a:solidFill>
                  <a:srgbClr val="1F2A37"/>
                </a:solidFill>
                <a:latin typeface="Arial"/>
              </a:rPr>
              <a:t>Supported forearm and small movements; the pointer moves only while thumb and middle finger touch.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3686" y="1325880"/>
            <a:ext cx="2651760" cy="306324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72286" y="1527048"/>
            <a:ext cx="438912" cy="438912"/>
          </a:xfrm>
          <a:prstGeom prst="ellipse">
            <a:avLst/>
          </a:prstGeom>
          <a:solidFill>
            <a:srgbClr val="004282"/>
          </a:solidFill>
          <a:ln>
            <a:noFill/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0070" y="1527048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 i="0">
                <a:solidFill>
                  <a:srgbClr val="007F86"/>
                </a:solidFill>
                <a:latin typeface="Arial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2286" y="2148840"/>
            <a:ext cx="2240279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900" b="1" i="0">
                <a:solidFill>
                  <a:srgbClr val="004282"/>
                </a:solidFill>
                <a:latin typeface="Arial"/>
              </a:rPr>
              <a:t>A desktop tool</a:t>
            </a:r>
          </a:p>
          <a:p>
            <a:pPr algn="l">
              <a:lnSpc>
                <a:spcPct val="106000"/>
              </a:lnSpc>
            </a:pPr>
            <a:r>
              <a:rPr sz="1500" b="0" i="0">
                <a:solidFill>
                  <a:srgbClr val="1F2A37"/>
                </a:solidFill>
                <a:latin typeface="Arial"/>
              </a:rPr>
              <a:t>One application for macOS and Windows: preview, sensitivity, gesture switches, practice area and a stop control.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3596" y="1325880"/>
            <a:ext cx="2651760" cy="3063240"/>
          </a:xfrm>
          <a:prstGeom prst="roundRect">
            <a:avLst>
              <a:gd name="adj" fmla="val 5000"/>
            </a:avLst>
          </a:prstGeom>
          <a:solidFill>
            <a:srgbClr val="FEF1E6"/>
          </a:solidFill>
          <a:ln w="15875">
            <a:solidFill>
              <a:srgbClr val="F58220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2196" y="1527048"/>
            <a:ext cx="438912" cy="438912"/>
          </a:xfrm>
          <a:prstGeom prst="ellipse">
            <a:avLst/>
          </a:prstGeom>
          <a:solidFill>
            <a:srgbClr val="004282"/>
          </a:solidFill>
          <a:ln>
            <a:noFill/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9980" y="1527048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 i="0">
                <a:solidFill>
                  <a:srgbClr val="B45309"/>
                </a:solidFill>
                <a:latin typeface="Arial"/>
              </a:rPr>
              <a:t>LEARN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2196" y="2148840"/>
            <a:ext cx="2240279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900" b="1" i="0">
                <a:solidFill>
                  <a:srgbClr val="004282"/>
                </a:solidFill>
                <a:latin typeface="Arial"/>
              </a:rPr>
              <a:t>Reliable contact recognition</a:t>
            </a:r>
          </a:p>
          <a:p>
            <a:pPr algn="l">
              <a:lnSpc>
                <a:spcPct val="106000"/>
              </a:lnSpc>
            </a:pPr>
            <a:r>
              <a:rPr sz="1500" b="0" i="0">
                <a:solidFill>
                  <a:srgbClr val="1F2A37"/>
                </a:solidFill>
                <a:latin typeface="Arial"/>
              </a:rPr>
              <a:t>Record our own gesture data and compare tuned rules, a random forest and a temporal CNN.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43507" y="1325880"/>
            <a:ext cx="2651760" cy="306324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72107" y="1527048"/>
            <a:ext cx="438912" cy="438912"/>
          </a:xfrm>
          <a:prstGeom prst="ellipse">
            <a:avLst/>
          </a:prstGeom>
          <a:solidFill>
            <a:srgbClr val="004282"/>
          </a:solidFill>
          <a:ln>
            <a:noFill/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91" y="1527048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 i="0">
                <a:solidFill>
                  <a:srgbClr val="007F86"/>
                </a:solidFill>
                <a:latin typeface="Arial"/>
              </a:rPr>
              <a:t>EVALUATE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2107" y="2148840"/>
            <a:ext cx="2240279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900" b="1" i="0">
                <a:solidFill>
                  <a:srgbClr val="004282"/>
                </a:solidFill>
                <a:latin typeface="Arial"/>
              </a:rPr>
              <a:t>Stability, errors and effort</a:t>
            </a:r>
          </a:p>
          <a:p>
            <a:pPr algn="l">
              <a:lnSpc>
                <a:spcPct val="106000"/>
              </a:lnSpc>
            </a:pPr>
            <a:r>
              <a:rPr sz="1500" b="0" i="0">
                <a:solidFill>
                  <a:srgbClr val="1F2A37"/>
                </a:solidFill>
                <a:latin typeface="Arial"/>
              </a:rPr>
              <a:t>Recognition on a person the model has never seen, then an internal usability pilot.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3776" y="4590288"/>
            <a:ext cx="11201400" cy="1097280"/>
          </a:xfrm>
          <a:prstGeom prst="roundRect">
            <a:avLst>
              <a:gd name="adj" fmla="val 10000"/>
            </a:avLst>
          </a:prstGeom>
          <a:solidFill>
            <a:srgbClr val="FEF1E6"/>
          </a:solidFill>
          <a:ln w="15875">
            <a:solidFill>
              <a:srgbClr val="F58220"/>
            </a:solidFill>
          </a:ln>
        </p:spPr>
        <p:txBody>
          <a:bodyPr rtlCol="0" anchor="ctr" lIns="274320" rIns="274320" tIns="36576" bIns="36576" wrap="square">
            <a:no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B45309"/>
                </a:solidFill>
                <a:latin typeface="Arial"/>
              </a:rPr>
              <a:t>OUR MAIN QUESTION</a:t>
            </a:r>
          </a:p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004282"/>
                </a:solidFill>
                <a:latin typeface="Arial"/>
              </a:rPr>
              <a:t>Does learned contact recognition stay reliable when the hand is relaxed or turned, where fixed distance rules tend to fail?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" y="5852160"/>
            <a:ext cx="11201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0" i="1">
                <a:solidFill>
                  <a:srgbClr val="5B6777"/>
                </a:solidFill>
                <a:latin typeface="Arial"/>
              </a:rPr>
              <a:t>Planned outputs: a working product and reproducible evidence from a small usability pilot.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004282"/>
                </a:solidFill>
                <a:latin typeface="Arial"/>
              </a:rPr>
              <a:t>Related products and our focus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0E9986C9-A00B-6B19-CEE4-2BAD5640537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37776" y="6492881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 sz="1100">
                <a:latin typeface="Arial"/>
              </a:rPr>
              <a:pPr/>
              <a:t>‹#›</a:t>
            </a:fld>
            <a:endParaRPr lang="en-SG" dirty="0"/>
          </a:p>
        </p:txBody>
      </p:sp>
      <p:sp>
        <p:nvSpPr>
          <p:cNvPr id="5" name="TextBox 4"/>
          <p:cNvSpPr txBox="1"/>
          <p:nvPr/>
        </p:nvSpPr>
        <p:spPr>
          <a:xfrm>
            <a:off x="493776" y="6419088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i="0">
                <a:solidFill>
                  <a:srgbClr val="004282"/>
                </a:solidFill>
                <a:latin typeface="Arial"/>
              </a:rPr>
              <a:t>1  Objectives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2  Scope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3  Data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4  Technical approach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5  Done so far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93776" y="1325880"/>
          <a:ext cx="11201400" cy="35478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3931920"/>
                <a:gridCol w="489204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550" b="1" i="0">
                          <a:solidFill>
                            <a:srgbClr val="FFFFFF"/>
                          </a:solidFill>
                          <a:latin typeface="Arial"/>
                        </a:rPr>
                        <a:t>Existing option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00428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550" b="1" i="0">
                          <a:solidFill>
                            <a:srgbClr val="FFFFFF"/>
                          </a:solidFill>
                          <a:latin typeface="Arial"/>
                        </a:rPr>
                        <a:t>What it offers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00428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550" b="1" i="0">
                          <a:solidFill>
                            <a:srgbClr val="FFFFFF"/>
                          </a:solidFill>
                          <a:latin typeface="Arial"/>
                        </a:rPr>
                        <a:t>PinchPilot's focus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004282"/>
                    </a:solidFill>
                  </a:tcPr>
                </a:tc>
              </a:tr>
              <a:tr h="102412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600" b="1" i="0">
                          <a:solidFill>
                            <a:srgbClr val="1F2A37"/>
                          </a:solidFill>
                          <a:latin typeface="Arial"/>
                        </a:rPr>
                        <a:t>Mouse and trackpad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600" b="0" i="0">
                          <a:solidFill>
                            <a:srgbClr val="1F2A37"/>
                          </a:solidFill>
                          <a:latin typeface="Arial"/>
                        </a:rPr>
                        <a:t>Familiar, direct desktop input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600" b="0" i="0">
                          <a:solidFill>
                            <a:srgbClr val="1F2A37"/>
                          </a:solidFill>
                          <a:latin typeface="Arial"/>
                        </a:rPr>
                        <a:t>A complementary touch-free option for short tasks; the mouse stays available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600" b="1" i="0">
                          <a:solidFill>
                            <a:srgbClr val="1F2A37"/>
                          </a:solidFill>
                          <a:latin typeface="Arial"/>
                        </a:rPr>
                        <a:t>Pawvis (macOS)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600" b="0" i="0">
                          <a:solidFill>
                            <a:srgbClr val="1F2A37"/>
                          </a:solidFill>
                          <a:latin typeface="Arial"/>
                        </a:rPr>
                        <a:t>Webcam control with configurable and trained gestures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600" b="0" i="0">
                          <a:solidFill>
                            <a:srgbClr val="1F2A37"/>
                          </a:solidFill>
                          <a:latin typeface="Arial"/>
                        </a:rPr>
                        <a:t>Explicit pinch roles, small hand and wrist motion, and support for macOS and Windows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102412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600" b="1" i="0">
                          <a:solidFill>
                            <a:srgbClr val="1F2A37"/>
                          </a:solidFill>
                          <a:latin typeface="Arial"/>
                        </a:rPr>
                        <a:t>MediaPipe hand tracking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600" b="0" i="0">
                          <a:solidFill>
                            <a:srgbClr val="1F2A37"/>
                          </a:solidFill>
                          <a:latin typeface="Arial"/>
                        </a:rPr>
                        <a:t>A building block: 21 hand keypoints per frame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600" b="0" i="0">
                          <a:solidFill>
                            <a:srgbClr val="1F2A37"/>
                          </a:solidFill>
                          <a:latin typeface="Arial"/>
                        </a:rPr>
                        <a:t>A usable interaction, a contact decision and a desktop experience built around the tracking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93776" y="5074920"/>
            <a:ext cx="11201400" cy="914400"/>
          </a:xfrm>
          <a:prstGeom prst="roundRect">
            <a:avLst>
              <a:gd name="adj" fmla="val 12000"/>
            </a:avLst>
          </a:prstGeom>
          <a:solidFill>
            <a:srgbClr val="E3F6F7"/>
          </a:solidFill>
          <a:ln>
            <a:noFill/>
          </a:ln>
        </p:spPr>
        <p:txBody>
          <a:bodyPr rtlCol="0" anchor="ctr" lIns="274320" rIns="274320" tIns="36576" bIns="36576" wrap="square">
            <a:no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04282"/>
                </a:solidFill>
                <a:latin typeface="Arial"/>
              </a:rPr>
              <a:t>This is a positioning comparison. </a:t>
            </a:r>
            <a:r>
              <a:rPr sz="1600" b="0" i="0">
                <a:solidFill>
                  <a:srgbClr val="1F2A37"/>
                </a:solidFill>
                <a:latin typeface="Arial"/>
              </a:rPr>
              <a:t>How well each option works will be established with matched user tasks; Pawvis is an optional product reference on the same Mac.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004282"/>
                </a:solidFill>
                <a:latin typeface="Arial"/>
              </a:rPr>
              <a:t>Project scope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0E9986C9-A00B-6B19-CEE4-2BAD5640537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37776" y="6492881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 sz="1100">
                <a:latin typeface="Arial"/>
              </a:rPr>
              <a:pPr/>
              <a:t>‹#›</a:t>
            </a:fld>
            <a:endParaRPr lang="en-SG" dirty="0"/>
          </a:p>
        </p:txBody>
      </p:sp>
      <p:sp>
        <p:nvSpPr>
          <p:cNvPr id="5" name="TextBox 4"/>
          <p:cNvSpPr txBox="1"/>
          <p:nvPr/>
        </p:nvSpPr>
        <p:spPr>
          <a:xfrm>
            <a:off x="493776" y="6419088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9AA6B5"/>
                </a:solidFill>
                <a:latin typeface="Arial"/>
              </a:rPr>
              <a:t>1  Objectives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1" i="0">
                <a:solidFill>
                  <a:srgbClr val="004282"/>
                </a:solidFill>
                <a:latin typeface="Arial"/>
              </a:rPr>
              <a:t>2  Scope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3  Data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4  Technical approach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5  Done so far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" y="1280160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007F86"/>
                </a:solidFill>
                <a:latin typeface="Arial"/>
              </a:rPr>
              <a:t>IN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627632"/>
            <a:ext cx="5120640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4000"/>
              </a:lnSpc>
              <a:spcAft>
                <a:spcPts val="900"/>
              </a:spcAft>
              <a:buClr>
                <a:srgbClr val="007F86"/>
              </a:buClr>
              <a:buSzPct val="85000"/>
              <a:buFont typeface="Arial"/>
              <a:buChar char="■"/>
            </a:pPr>
            <a:r>
              <a:rPr sz="1600" b="0" i="0">
                <a:solidFill>
                  <a:srgbClr val="1F2A37"/>
                </a:solidFill>
                <a:latin typeface="Arial"/>
              </a:rPr>
              <a:t>One control hand, the primary screen, short seated use</a:t>
            </a:r>
          </a:p>
          <a:p>
            <a:pPr algn="l" marL="219456" indent="-219456">
              <a:lnSpc>
                <a:spcPct val="104000"/>
              </a:lnSpc>
              <a:spcAft>
                <a:spcPts val="900"/>
              </a:spcAft>
              <a:buClr>
                <a:srgbClr val="007F86"/>
              </a:buClr>
              <a:buSzPct val="85000"/>
              <a:buFont typeface="Arial"/>
              <a:buChar char="■"/>
            </a:pPr>
            <a:r>
              <a:rPr sz="1600" b="0" i="0">
                <a:solidFill>
                  <a:srgbClr val="1F2A37"/>
                </a:solidFill>
                <a:latin typeface="Arial"/>
              </a:rPr>
              <a:t>Point, click, double click, right click, drag, scroll, pause</a:t>
            </a:r>
          </a:p>
          <a:p>
            <a:pPr algn="l" marL="219456" indent="-219456">
              <a:lnSpc>
                <a:spcPct val="104000"/>
              </a:lnSpc>
              <a:spcAft>
                <a:spcPts val="900"/>
              </a:spcAft>
              <a:buClr>
                <a:srgbClr val="007F86"/>
              </a:buClr>
              <a:buSzPct val="85000"/>
              <a:buFont typeface="Arial"/>
              <a:buChar char="■"/>
            </a:pPr>
            <a:r>
              <a:rPr sz="1600" b="0" i="0">
                <a:solidFill>
                  <a:srgbClr val="1F2A37"/>
                </a:solidFill>
                <a:latin typeface="Arial"/>
              </a:rPr>
              <a:t>An ordinary laptop webcam, on macOS and Windows</a:t>
            </a:r>
          </a:p>
          <a:p>
            <a:pPr algn="l" marL="219456" indent="-219456">
              <a:lnSpc>
                <a:spcPct val="104000"/>
              </a:lnSpc>
              <a:spcAft>
                <a:spcPts val="900"/>
              </a:spcAft>
              <a:buClr>
                <a:srgbClr val="007F86"/>
              </a:buClr>
              <a:buSzPct val="85000"/>
              <a:buFont typeface="Arial"/>
              <a:buChar char="■"/>
            </a:pPr>
            <a:r>
              <a:rPr sz="1600" b="0" i="0">
                <a:solidFill>
                  <a:srgbClr val="1F2A37"/>
                </a:solidFill>
                <a:latin typeface="Arial"/>
              </a:rPr>
              <a:t>Camera frames are processed on the laptop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3767328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B45309"/>
                </a:solidFill>
                <a:latin typeface="Arial"/>
              </a:rPr>
              <a:t>OUT OF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411480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4000"/>
              </a:lnSpc>
              <a:spcAft>
                <a:spcPts val="900"/>
              </a:spcAft>
              <a:buClr>
                <a:srgbClr val="F58220"/>
              </a:buClr>
              <a:buSzPct val="85000"/>
              <a:buFont typeface="Arial"/>
              <a:buChar char="■"/>
            </a:pPr>
            <a:r>
              <a:rPr sz="1600" b="0" i="0">
                <a:solidFill>
                  <a:srgbClr val="1F2A37"/>
                </a:solidFill>
                <a:latin typeface="Arial"/>
              </a:rPr>
              <a:t>Tracking the hand at every angle, or replacing the mouse</a:t>
            </a:r>
          </a:p>
          <a:p>
            <a:pPr algn="l" marL="219456" indent="-219456">
              <a:lnSpc>
                <a:spcPct val="104000"/>
              </a:lnSpc>
              <a:spcAft>
                <a:spcPts val="900"/>
              </a:spcAft>
              <a:buClr>
                <a:srgbClr val="F58220"/>
              </a:buClr>
              <a:buSzPct val="85000"/>
              <a:buFont typeface="Arial"/>
              <a:buChar char="■"/>
            </a:pPr>
            <a:r>
              <a:rPr sz="1600" b="0" i="0">
                <a:solidFill>
                  <a:srgbClr val="1F2A37"/>
                </a:solidFill>
                <a:latin typeface="Arial"/>
              </a:rPr>
              <a:t>Retraining MediaPipe's hand-tracking model</a:t>
            </a:r>
          </a:p>
          <a:p>
            <a:pPr algn="l" marL="219456" indent="-219456">
              <a:lnSpc>
                <a:spcPct val="104000"/>
              </a:lnSpc>
              <a:spcAft>
                <a:spcPts val="900"/>
              </a:spcAft>
              <a:buClr>
                <a:srgbClr val="F58220"/>
              </a:buClr>
              <a:buSzPct val="85000"/>
              <a:buFont typeface="Arial"/>
              <a:buChar char="■"/>
            </a:pPr>
            <a:r>
              <a:rPr sz="1600" b="0" i="0">
                <a:solidFill>
                  <a:srgbClr val="1F2A37"/>
                </a:solidFill>
                <a:latin typeface="Arial"/>
              </a:rPr>
              <a:t>Recruited participants: the three of us record the data</a:t>
            </a:r>
          </a:p>
        </p:txBody>
      </p:sp>
      <p:pic>
        <p:nvPicPr>
          <p:cNvPr id="10" name="Picture 9" descr="concept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36" y="1298448"/>
            <a:ext cx="5806440" cy="3239382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374275" y="1844260"/>
            <a:ext cx="237744" cy="237744"/>
          </a:xfrm>
          <a:prstGeom prst="ellipse">
            <a:avLst/>
          </a:prstGeom>
          <a:solidFill>
            <a:srgbClr val="F58220"/>
          </a:solidFill>
          <a:ln w="15875">
            <a:solidFill>
              <a:srgbClr val="FFFFFF"/>
            </a:solidFill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7435395" y="3570912"/>
            <a:ext cx="237744" cy="237744"/>
          </a:xfrm>
          <a:prstGeom prst="ellipse">
            <a:avLst/>
          </a:prstGeom>
          <a:solidFill>
            <a:srgbClr val="F58220"/>
          </a:solidFill>
          <a:ln w="15875">
            <a:solidFill>
              <a:srgbClr val="FFFFFF"/>
            </a:solidFill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9605170" y="2600625"/>
            <a:ext cx="237744" cy="237744"/>
          </a:xfrm>
          <a:prstGeom prst="ellipse">
            <a:avLst/>
          </a:prstGeom>
          <a:solidFill>
            <a:srgbClr val="F58220"/>
          </a:solidFill>
          <a:ln w="15875">
            <a:solidFill>
              <a:srgbClr val="FFFFFF"/>
            </a:solidFill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10109413" y="4159196"/>
            <a:ext cx="237744" cy="237744"/>
          </a:xfrm>
          <a:prstGeom prst="ellipse">
            <a:avLst/>
          </a:prstGeom>
          <a:solidFill>
            <a:srgbClr val="F58220"/>
          </a:solidFill>
          <a:ln w="15875">
            <a:solidFill>
              <a:srgbClr val="FFFFFF"/>
            </a:solidFill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5888736" y="4665846"/>
            <a:ext cx="237744" cy="237744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647558"/>
            <a:ext cx="25374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50" b="0" i="0">
                <a:solidFill>
                  <a:srgbClr val="1F2A37"/>
                </a:solidFill>
                <a:latin typeface="Arial"/>
              </a:rPr>
              <a:t>The hand being followed</a:t>
            </a:r>
          </a:p>
        </p:txBody>
      </p:sp>
      <p:sp>
        <p:nvSpPr>
          <p:cNvPr id="17" name="Oval 16"/>
          <p:cNvSpPr/>
          <p:nvPr/>
        </p:nvSpPr>
        <p:spPr>
          <a:xfrm>
            <a:off x="8791955" y="4665846"/>
            <a:ext cx="237744" cy="237744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1139" y="4647558"/>
            <a:ext cx="25374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50" b="0" i="0">
                <a:solidFill>
                  <a:srgbClr val="1F2A37"/>
                </a:solidFill>
                <a:latin typeface="Arial"/>
              </a:rPr>
              <a:t>The current action</a:t>
            </a:r>
          </a:p>
        </p:txBody>
      </p:sp>
      <p:sp>
        <p:nvSpPr>
          <p:cNvPr id="19" name="Oval 18"/>
          <p:cNvSpPr/>
          <p:nvPr/>
        </p:nvSpPr>
        <p:spPr>
          <a:xfrm>
            <a:off x="5888736" y="5031606"/>
            <a:ext cx="237744" cy="237744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013318"/>
            <a:ext cx="25374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50" b="0" i="0">
                <a:solidFill>
                  <a:srgbClr val="1F2A37"/>
                </a:solidFill>
                <a:latin typeface="Arial"/>
              </a:rPr>
              <a:t>Sensitivity and gestures</a:t>
            </a:r>
          </a:p>
        </p:txBody>
      </p:sp>
      <p:sp>
        <p:nvSpPr>
          <p:cNvPr id="21" name="Oval 20"/>
          <p:cNvSpPr/>
          <p:nvPr/>
        </p:nvSpPr>
        <p:spPr>
          <a:xfrm>
            <a:off x="8791955" y="5031606"/>
            <a:ext cx="237744" cy="237744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1139" y="5013318"/>
            <a:ext cx="25374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50" b="0" i="0">
                <a:solidFill>
                  <a:srgbClr val="1F2A37"/>
                </a:solidFill>
                <a:latin typeface="Arial"/>
              </a:rPr>
              <a:t>Stop control and Esc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88736" y="5433942"/>
            <a:ext cx="58064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50" b="0" i="1">
                <a:solidFill>
                  <a:srgbClr val="5B6777"/>
                </a:solidFill>
                <a:latin typeface="Arial"/>
              </a:rPr>
              <a:t>Concept interface: a design drawing, not a screenshot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004282"/>
                </a:solidFill>
                <a:latin typeface="Arial"/>
              </a:rPr>
              <a:t>Data required and available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0E9986C9-A00B-6B19-CEE4-2BAD5640537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37776" y="6492881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 sz="1100">
                <a:latin typeface="Arial"/>
              </a:rPr>
              <a:pPr/>
              <a:t>‹#›</a:t>
            </a:fld>
            <a:endParaRPr lang="en-SG" dirty="0"/>
          </a:p>
        </p:txBody>
      </p:sp>
      <p:sp>
        <p:nvSpPr>
          <p:cNvPr id="5" name="TextBox 4"/>
          <p:cNvSpPr txBox="1"/>
          <p:nvPr/>
        </p:nvSpPr>
        <p:spPr>
          <a:xfrm>
            <a:off x="493776" y="6419088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9AA6B5"/>
                </a:solidFill>
                <a:latin typeface="Arial"/>
              </a:rPr>
              <a:t>1  Objectives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2  Scope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1" i="0">
                <a:solidFill>
                  <a:srgbClr val="004282"/>
                </a:solidFill>
                <a:latin typeface="Arial"/>
              </a:rPr>
              <a:t>3  Data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4  Technical approach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5  Done so far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" y="129844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004282"/>
                </a:solidFill>
                <a:latin typeface="Arial"/>
              </a:rPr>
              <a:t>What we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37160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50" b="1" i="0">
                <a:solidFill>
                  <a:srgbClr val="007F86"/>
                </a:solidFill>
                <a:latin typeface="Arial"/>
              </a:rPr>
              <a:t>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37160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50" b="1" i="0">
                <a:solidFill>
                  <a:srgbClr val="5B6777"/>
                </a:solidFill>
                <a:latin typeface="Arial"/>
              </a:rPr>
              <a:t>AVAILABLE NOW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" y="1737360"/>
            <a:ext cx="5760720" cy="9144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6656" y="1956815"/>
            <a:ext cx="182880" cy="182880"/>
          </a:xfrm>
          <a:prstGeom prst="rect">
            <a:avLst/>
          </a:prstGeom>
          <a:solidFill>
            <a:srgbClr val="9AA6B5"/>
          </a:solidFill>
          <a:ln>
            <a:noFill/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856231"/>
            <a:ext cx="2423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04282"/>
                </a:solidFill>
                <a:latin typeface="Arial"/>
              </a:rPr>
              <a:t>Hand keypoints</a:t>
            </a:r>
          </a:p>
          <a:p>
            <a:pPr algn="l"/>
            <a:r>
              <a:rPr sz="1300" b="0" i="0">
                <a:solidFill>
                  <a:srgbClr val="5B6777"/>
                </a:solidFill>
                <a:latin typeface="Arial"/>
              </a:rPr>
              <a:t>From each camera 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828800"/>
            <a:ext cx="14173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007F86"/>
                </a:solidFill>
                <a:latin typeface="Arial"/>
              </a:rPr>
              <a:t>21 points</a:t>
            </a:r>
          </a:p>
          <a:p>
            <a:pPr algn="ctr"/>
            <a:r>
              <a:rPr sz="1100" b="0" i="0">
                <a:solidFill>
                  <a:srgbClr val="5B6777"/>
                </a:solidFill>
                <a:latin typeface="Arial"/>
              </a:rPr>
              <a:t>per frame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828800"/>
            <a:ext cx="132588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004282"/>
                </a:solidFill>
                <a:latin typeface="Arial"/>
              </a:rPr>
              <a:t>Yes</a:t>
            </a:r>
          </a:p>
          <a:p>
            <a:pPr algn="ctr"/>
            <a:r>
              <a:rPr sz="1100" b="0" i="0">
                <a:solidFill>
                  <a:srgbClr val="5B6777"/>
                </a:solidFill>
                <a:latin typeface="Arial"/>
              </a:rPr>
              <a:t>pretrained MediaPipe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" y="2743200"/>
            <a:ext cx="5760720" cy="9144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6656" y="2962656"/>
            <a:ext cx="182880" cy="182880"/>
          </a:xfrm>
          <a:prstGeom prst="rect">
            <a:avLst/>
          </a:prstGeom>
          <a:solidFill>
            <a:srgbClr val="004282"/>
          </a:solidFill>
          <a:ln>
            <a:noFill/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862072"/>
            <a:ext cx="2423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04282"/>
                </a:solidFill>
                <a:latin typeface="Arial"/>
              </a:rPr>
              <a:t>Team recordings</a:t>
            </a:r>
          </a:p>
          <a:p>
            <a:pPr algn="l"/>
            <a:r>
              <a:rPr sz="1300" b="0" i="0">
                <a:solidFill>
                  <a:srgbClr val="5B6777"/>
                </a:solidFill>
                <a:latin typeface="Arial"/>
              </a:rPr>
              <a:t>Train and test contact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834640"/>
            <a:ext cx="14173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007F86"/>
                </a:solidFill>
                <a:latin typeface="Arial"/>
              </a:rPr>
              <a:t>3 people</a:t>
            </a:r>
          </a:p>
          <a:p>
            <a:pPr algn="ctr"/>
            <a:r>
              <a:rPr sz="1100" b="0" i="0">
                <a:solidFill>
                  <a:srgbClr val="5B6777"/>
                </a:solidFill>
                <a:latin typeface="Arial"/>
              </a:rPr>
              <a:t>3+ sessions, ~15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834640"/>
            <a:ext cx="132588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B45309"/>
                </a:solidFill>
                <a:latin typeface="Arial"/>
              </a:rPr>
              <a:t>Not yet</a:t>
            </a:r>
          </a:p>
          <a:p>
            <a:pPr algn="ctr"/>
            <a:r>
              <a:rPr sz="1100" b="0" i="0">
                <a:solidFill>
                  <a:srgbClr val="5B6777"/>
                </a:solidFill>
                <a:latin typeface="Arial"/>
              </a:rPr>
              <a:t>starts 7 Oct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" y="3749039"/>
            <a:ext cx="5760720" cy="9144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6656" y="3968496"/>
            <a:ext cx="182880" cy="182880"/>
          </a:xfrm>
          <a:prstGeom prst="rect">
            <a:avLst/>
          </a:prstGeom>
          <a:solidFill>
            <a:srgbClr val="00B6BD"/>
          </a:solidFill>
          <a:ln>
            <a:noFill/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867911"/>
            <a:ext cx="2423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04282"/>
                </a:solidFill>
                <a:latin typeface="Arial"/>
              </a:rPr>
              <a:t>Unlabelled usage records</a:t>
            </a:r>
          </a:p>
          <a:p>
            <a:pPr algn="l"/>
            <a:r>
              <a:rPr sz="1300" b="0" i="0">
                <a:solidFill>
                  <a:srgbClr val="5B6777"/>
                </a:solidFill>
                <a:latin typeface="Arial"/>
              </a:rPr>
              <a:t>Pretraining; keypoints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840479"/>
            <a:ext cx="14173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007F86"/>
                </a:solidFill>
                <a:latin typeface="Arial"/>
              </a:rPr>
              <a:t>Keypoints</a:t>
            </a:r>
          </a:p>
          <a:p>
            <a:pPr algn="ctr"/>
            <a:r>
              <a:rPr sz="1100" b="0" i="0">
                <a:solidFill>
                  <a:srgbClr val="5B6777"/>
                </a:solidFill>
                <a:latin typeface="Arial"/>
              </a:rPr>
              <a:t>no video saved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3840479"/>
            <a:ext cx="132588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B45309"/>
                </a:solidFill>
                <a:latin typeface="Arial"/>
              </a:rPr>
              <a:t>Not yet</a:t>
            </a:r>
          </a:p>
          <a:p>
            <a:pPr algn="ctr"/>
            <a:r>
              <a:rPr sz="1100" b="0" i="0">
                <a:solidFill>
                  <a:srgbClr val="5B6777"/>
                </a:solidFill>
                <a:latin typeface="Arial"/>
              </a:rPr>
              <a:t>after recording starts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" y="4754879"/>
            <a:ext cx="5760720" cy="9144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6656" y="4974336"/>
            <a:ext cx="182880" cy="18288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873751"/>
            <a:ext cx="2423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04282"/>
                </a:solidFill>
                <a:latin typeface="Arial"/>
              </a:rPr>
              <a:t>Synthetic examples</a:t>
            </a:r>
          </a:p>
          <a:p>
            <a:pPr algn="l"/>
            <a:r>
              <a:rPr sz="1300" b="0" i="0">
                <a:solidFill>
                  <a:srgbClr val="5B6777"/>
                </a:solidFill>
                <a:latin typeface="Arial"/>
              </a:rPr>
              <a:t>Software checks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846319"/>
            <a:ext cx="14173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007F86"/>
                </a:solidFill>
                <a:latin typeface="Arial"/>
              </a:rPr>
              <a:t>Checks</a:t>
            </a:r>
          </a:p>
          <a:p>
            <a:pPr algn="ctr"/>
            <a:r>
              <a:rPr sz="1100" b="0" i="0">
                <a:solidFill>
                  <a:srgbClr val="5B6777"/>
                </a:solidFill>
                <a:latin typeface="Arial"/>
              </a:rPr>
              <a:t>never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4846319"/>
            <a:ext cx="132588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004282"/>
                </a:solidFill>
                <a:latin typeface="Arial"/>
              </a:rPr>
              <a:t>Yes</a:t>
            </a:r>
          </a:p>
          <a:p>
            <a:pPr algn="ctr"/>
            <a:r>
              <a:rPr sz="1100" b="0" i="0">
                <a:solidFill>
                  <a:srgbClr val="5B6777"/>
                </a:solidFill>
                <a:latin typeface="Arial"/>
              </a:rPr>
              <a:t>generated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129844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004282"/>
                </a:solidFill>
                <a:latin typeface="Arial"/>
              </a:rPr>
              <a:t>What each recording session will cover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175564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007F86"/>
                </a:solidFill>
                <a:latin typeface="Arial"/>
              </a:rPr>
              <a:t>GESTURES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2048256"/>
            <a:ext cx="1965960" cy="329184"/>
          </a:xfrm>
          <a:prstGeom prst="roundRect">
            <a:avLst>
              <a:gd name="adj" fmla="val 50000"/>
            </a:avLst>
          </a:prstGeom>
          <a:solidFill>
            <a:srgbClr val="E3F6F7"/>
          </a:solidFill>
          <a:ln>
            <a:noFill/>
          </a:ln>
        </p:spPr>
        <p:txBody>
          <a:bodyPr rtlCol="0" anchor="ctr" lIns="54864" rIns="54864" tIns="36576" bIns="36576" wrap="square">
            <a:noAutofit/>
          </a:bodyPr>
          <a:lstStyle/>
          <a:p>
            <a:pPr algn="ctr"/>
            <a:r>
              <a:rPr sz="1250" b="1" i="0">
                <a:solidFill>
                  <a:srgbClr val="007F86"/>
                </a:solidFill>
                <a:latin typeface="Arial"/>
              </a:rPr>
              <a:t>Contact and release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59368" y="2048256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E3F6F7"/>
          </a:solidFill>
          <a:ln>
            <a:noFill/>
          </a:ln>
        </p:spPr>
        <p:txBody>
          <a:bodyPr rtlCol="0" anchor="ctr" lIns="54864" rIns="54864" tIns="36576" bIns="36576" wrap="square">
            <a:noAutofit/>
          </a:bodyPr>
          <a:lstStyle/>
          <a:p>
            <a:pPr algn="ctr"/>
            <a:r>
              <a:rPr sz="1250" b="1" i="0">
                <a:solidFill>
                  <a:srgbClr val="007F86"/>
                </a:solidFill>
                <a:latin typeface="Arial"/>
              </a:rPr>
              <a:t>Short taps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12096" y="204825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E3F6F7"/>
          </a:solidFill>
          <a:ln>
            <a:noFill/>
          </a:ln>
        </p:spPr>
        <p:txBody>
          <a:bodyPr rtlCol="0" anchor="ctr" lIns="54864" rIns="54864" tIns="36576" bIns="36576" wrap="square">
            <a:noAutofit/>
          </a:bodyPr>
          <a:lstStyle/>
          <a:p>
            <a:pPr algn="ctr"/>
            <a:r>
              <a:rPr sz="1250" b="1" i="0">
                <a:solidFill>
                  <a:srgbClr val="007F86"/>
                </a:solidFill>
                <a:latin typeface="Arial"/>
              </a:rPr>
              <a:t>Grip plus click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2450592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E3F6F7"/>
          </a:solidFill>
          <a:ln>
            <a:noFill/>
          </a:ln>
        </p:spPr>
        <p:txBody>
          <a:bodyPr rtlCol="0" anchor="ctr" lIns="54864" rIns="54864" tIns="36576" bIns="36576" wrap="square">
            <a:noAutofit/>
          </a:bodyPr>
          <a:lstStyle/>
          <a:p>
            <a:pPr algn="ctr"/>
            <a:r>
              <a:rPr sz="1250" b="1" i="0">
                <a:solidFill>
                  <a:srgbClr val="007F86"/>
                </a:solidFill>
                <a:latin typeface="Arial"/>
              </a:rPr>
              <a:t>Near-contact (no touch)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87968" y="2450592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E3F6F7"/>
          </a:solidFill>
          <a:ln>
            <a:noFill/>
          </a:ln>
        </p:spPr>
        <p:txBody>
          <a:bodyPr rtlCol="0" anchor="ctr" lIns="54864" rIns="54864" tIns="36576" bIns="36576" wrap="square">
            <a:noAutofit/>
          </a:bodyPr>
          <a:lstStyle/>
          <a:p>
            <a:pPr algn="ctr"/>
            <a:r>
              <a:rPr sz="1250" b="1" i="0">
                <a:solidFill>
                  <a:srgbClr val="007F86"/>
                </a:solidFill>
                <a:latin typeface="Arial"/>
              </a:rPr>
              <a:t>Hand adjustments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29260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007F86"/>
                </a:solidFill>
                <a:latin typeface="Arial"/>
              </a:rPr>
              <a:t>VARIED ON PURPOSE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3218688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</p:spPr>
        <p:txBody>
          <a:bodyPr rtlCol="0" anchor="ctr" lIns="54864" rIns="54864" tIns="36576" bIns="36576" wrap="square">
            <a:noAutofit/>
          </a:bodyPr>
          <a:lstStyle/>
          <a:p>
            <a:pPr algn="ctr"/>
            <a:r>
              <a:rPr sz="1250" b="1" i="0">
                <a:solidFill>
                  <a:srgbClr val="004282"/>
                </a:solidFill>
                <a:latin typeface="Arial"/>
              </a:rPr>
              <a:t>Supported posture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76488" y="3218688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</p:spPr>
        <p:txBody>
          <a:bodyPr rtlCol="0" anchor="ctr" lIns="54864" rIns="54864" tIns="36576" bIns="36576" wrap="square">
            <a:noAutofit/>
          </a:bodyPr>
          <a:lstStyle/>
          <a:p>
            <a:pPr algn="ctr"/>
            <a:r>
              <a:rPr sz="1250" b="1" i="0">
                <a:solidFill>
                  <a:srgbClr val="004282"/>
                </a:solidFill>
                <a:latin typeface="Arial"/>
              </a:rPr>
              <a:t>Hand orientation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86416" y="3218688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</p:spPr>
        <p:txBody>
          <a:bodyPr rtlCol="0" anchor="ctr" lIns="54864" rIns="54864" tIns="36576" bIns="36576" wrap="square">
            <a:noAutofit/>
          </a:bodyPr>
          <a:lstStyle/>
          <a:p>
            <a:pPr algn="ctr"/>
            <a:r>
              <a:rPr sz="1250" b="1" i="0">
                <a:solidFill>
                  <a:srgbClr val="004282"/>
                </a:solidFill>
                <a:latin typeface="Arial"/>
              </a:rPr>
              <a:t>Distance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0" y="3621024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</p:spPr>
        <p:txBody>
          <a:bodyPr rtlCol="0" anchor="ctr" lIns="54864" rIns="54864" tIns="36576" bIns="36576" wrap="square">
            <a:noAutofit/>
          </a:bodyPr>
          <a:lstStyle/>
          <a:p>
            <a:pPr algn="ctr"/>
            <a:r>
              <a:rPr sz="1250" b="1" i="0">
                <a:solidFill>
                  <a:srgbClr val="004282"/>
                </a:solidFill>
                <a:latin typeface="Arial"/>
              </a:rPr>
              <a:t>Lighting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53528" y="3621024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</p:spPr>
        <p:txBody>
          <a:bodyPr rtlCol="0" anchor="ctr" lIns="54864" rIns="54864" tIns="36576" bIns="36576" wrap="square">
            <a:noAutofit/>
          </a:bodyPr>
          <a:lstStyle/>
          <a:p>
            <a:pPr algn="ctr"/>
            <a:r>
              <a:rPr sz="1250" b="1" i="0">
                <a:solidFill>
                  <a:srgbClr val="004282"/>
                </a:solidFill>
                <a:latin typeface="Arial"/>
              </a:rPr>
              <a:t>Different days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34856" y="3621024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</p:spPr>
        <p:txBody>
          <a:bodyPr rtlCol="0" anchor="ctr" lIns="54864" rIns="54864" tIns="36576" bIns="36576" wrap="square">
            <a:noAutofit/>
          </a:bodyPr>
          <a:lstStyle/>
          <a:p>
            <a:pPr algn="ctr"/>
            <a:r>
              <a:rPr sz="1250" b="1" i="0">
                <a:solidFill>
                  <a:srgbClr val="004282"/>
                </a:solidFill>
                <a:latin typeface="Arial"/>
              </a:rPr>
              <a:t>Own laptop camera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411480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0" i="1">
                <a:solidFill>
                  <a:srgbClr val="5B6777"/>
                </a:solidFill>
                <a:latin typeface="Arial"/>
              </a:rPr>
              <a:t>Public gesture datasets such as HaGRID label static hand poses, not finger contact over time, so we record our own.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0" y="4873752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E3F6F7"/>
          </a:solidFill>
          <a:ln>
            <a:noFill/>
          </a:ln>
        </p:spPr>
        <p:txBody>
          <a:bodyPr rtlCol="0" anchor="ctr" lIns="182880" rIns="182880" tIns="36576" bIns="36576" wrap="square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04282"/>
                </a:solidFill>
                <a:latin typeface="Arial"/>
              </a:rPr>
              <a:t>So we will </a:t>
            </a:r>
            <a:r>
              <a:rPr sz="1400" b="0" i="0">
                <a:solidFill>
                  <a:srgbClr val="1F2A37"/>
                </a:solidFill>
                <a:latin typeface="Arial"/>
              </a:rPr>
              <a:t>test on a member whose recordings were never used for training, and report the limits of a three-person dataset.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004282"/>
                </a:solidFill>
                <a:latin typeface="Arial"/>
              </a:rPr>
              <a:t>From recordings to training data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0E9986C9-A00B-6B19-CEE4-2BAD5640537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37776" y="6492881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 sz="1100">
                <a:latin typeface="Arial"/>
              </a:rPr>
              <a:pPr/>
              <a:t>‹#›</a:t>
            </a:fld>
            <a:endParaRPr lang="en-SG" dirty="0"/>
          </a:p>
        </p:txBody>
      </p:sp>
      <p:sp>
        <p:nvSpPr>
          <p:cNvPr id="5" name="TextBox 4"/>
          <p:cNvSpPr txBox="1"/>
          <p:nvPr/>
        </p:nvSpPr>
        <p:spPr>
          <a:xfrm>
            <a:off x="493776" y="6419088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9AA6B5"/>
                </a:solidFill>
                <a:latin typeface="Arial"/>
              </a:rPr>
              <a:t>1  Objectives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2  Scope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1" i="0">
                <a:solidFill>
                  <a:srgbClr val="004282"/>
                </a:solidFill>
                <a:latin typeface="Arial"/>
              </a:rPr>
              <a:t>3  Data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4  Technical approach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5  Done so far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" y="1298448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007F86"/>
                </a:solidFill>
                <a:latin typeface="Arial"/>
              </a:rPr>
              <a:t>ONE MOMENT OF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54096" y="1298448"/>
            <a:ext cx="26974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007F86"/>
                </a:solidFill>
                <a:latin typeface="Arial"/>
              </a:rPr>
              <a:t>HAND KEYPOINTS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0176" y="1298448"/>
            <a:ext cx="26974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007F86"/>
                </a:solidFill>
                <a:latin typeface="Arial"/>
              </a:rPr>
              <a:t>FEATURES  (SHORT SEQUENCE)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298448"/>
            <a:ext cx="27889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007F86"/>
                </a:solidFill>
                <a:latin typeface="Arial"/>
              </a:rPr>
              <a:t>LABELS  (THREE CONTACTS)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" y="1691640"/>
            <a:ext cx="2331720" cy="2971799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pic>
        <p:nvPicPr>
          <p:cNvPr id="11" name="Picture 10" descr="icon_lap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" y="1965960"/>
            <a:ext cx="1188720" cy="85587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6656" y="3017520"/>
            <a:ext cx="2011680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spcAft>
                <a:spcPts val="800"/>
              </a:spcAft>
              <a:buClr>
                <a:srgbClr val="004282"/>
              </a:buClr>
              <a:buSzPct val="85000"/>
              <a:buFont typeface="Arial"/>
              <a:buChar char="■"/>
            </a:pPr>
            <a:r>
              <a:rPr sz="1500" b="0" i="0">
                <a:solidFill>
                  <a:srgbClr val="1F2A37"/>
                </a:solidFill>
                <a:latin typeface="Arial"/>
              </a:rPr>
              <a:t>Laptop camera frames</a:t>
            </a:r>
          </a:p>
          <a:p>
            <a:pPr algn="l" marL="219456" indent="-219456">
              <a:spcAft>
                <a:spcPts val="800"/>
              </a:spcAft>
              <a:buClr>
                <a:srgbClr val="004282"/>
              </a:buClr>
              <a:buSzPct val="85000"/>
              <a:buFont typeface="Arial"/>
              <a:buChar char="■"/>
            </a:pPr>
            <a:r>
              <a:rPr sz="1500" b="0" i="0">
                <a:solidFill>
                  <a:srgbClr val="1F2A37"/>
                </a:solidFill>
                <a:latin typeface="Arial"/>
              </a:rPr>
              <a:t>About 30 per second</a:t>
            </a:r>
          </a:p>
          <a:p>
            <a:pPr algn="l" marL="219456" indent="-219456">
              <a:spcAft>
                <a:spcPts val="800"/>
              </a:spcAft>
              <a:buClr>
                <a:srgbClr val="004282"/>
              </a:buClr>
              <a:buSzPct val="85000"/>
              <a:buFont typeface="Arial"/>
              <a:buChar char="■"/>
            </a:pPr>
            <a:r>
              <a:rPr sz="1500" b="0" i="0">
                <a:solidFill>
                  <a:srgbClr val="1F2A37"/>
                </a:solidFill>
                <a:latin typeface="Arial"/>
              </a:rPr>
              <a:t>Processed locally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54096" y="1691640"/>
            <a:ext cx="2697480" cy="29717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4282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pic>
        <p:nvPicPr>
          <p:cNvPr id="14" name="Picture 13" descr="hand_mo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736" y="1874520"/>
            <a:ext cx="1595933" cy="17099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236976" y="365760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004282"/>
                </a:solidFill>
                <a:latin typeface="Arial"/>
              </a:rPr>
              <a:t>21 keypoints per frame</a:t>
            </a:r>
          </a:p>
          <a:p>
            <a:pPr algn="ctr"/>
            <a:r>
              <a:rPr sz="1300" b="0" i="0">
                <a:solidFill>
                  <a:srgbClr val="5B6777"/>
                </a:solidFill>
                <a:latin typeface="Arial"/>
              </a:rPr>
              <a:t>from pretrained MediaPipe, used as it 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0176" y="1691640"/>
            <a:ext cx="2697480" cy="899160"/>
          </a:xfrm>
          <a:prstGeom prst="roundRect">
            <a:avLst>
              <a:gd name="adj" fmla="val 18000"/>
            </a:avLst>
          </a:prstGeom>
          <a:solidFill>
            <a:srgbClr val="E3F6F7"/>
          </a:solidFill>
          <a:ln>
            <a:noFill/>
          </a:ln>
        </p:spPr>
        <p:txBody>
          <a:bodyPr rtlCol="0" anchor="ctr" lIns="109728" rIns="109728" tIns="36576" bIns="36576" wrap="square">
            <a:noAutofit/>
          </a:bodyPr>
          <a:lstStyle/>
          <a:p>
            <a:pPr algn="ctr"/>
            <a:r>
              <a:rPr sz="1500" b="1" i="0">
                <a:solidFill>
                  <a:srgbClr val="007F86"/>
                </a:solidFill>
                <a:latin typeface="Arial"/>
              </a:rPr>
              <a:t>Keypoints relative to the palm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0176" y="2727960"/>
            <a:ext cx="2697480" cy="899160"/>
          </a:xfrm>
          <a:prstGeom prst="roundRect">
            <a:avLst>
              <a:gd name="adj" fmla="val 18000"/>
            </a:avLst>
          </a:prstGeom>
          <a:solidFill>
            <a:srgbClr val="E3F6F7"/>
          </a:solidFill>
          <a:ln>
            <a:noFill/>
          </a:ln>
        </p:spPr>
        <p:txBody>
          <a:bodyPr rtlCol="0" anchor="ctr" lIns="109728" rIns="109728" tIns="36576" bIns="36576" wrap="square">
            <a:noAutofit/>
          </a:bodyPr>
          <a:lstStyle/>
          <a:p>
            <a:pPr algn="ctr"/>
            <a:r>
              <a:rPr sz="1500" b="1" i="0">
                <a:solidFill>
                  <a:srgbClr val="007F86"/>
                </a:solidFill>
                <a:latin typeface="Arial"/>
              </a:rPr>
              <a:t>Three fingertip distances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0176" y="3764280"/>
            <a:ext cx="2697480" cy="899160"/>
          </a:xfrm>
          <a:prstGeom prst="roundRect">
            <a:avLst>
              <a:gd name="adj" fmla="val 18000"/>
            </a:avLst>
          </a:prstGeom>
          <a:solidFill>
            <a:srgbClr val="E3F6F7"/>
          </a:solidFill>
          <a:ln>
            <a:noFill/>
          </a:ln>
        </p:spPr>
        <p:txBody>
          <a:bodyPr rtlCol="0" anchor="ctr" lIns="109728" rIns="109728" tIns="36576" bIns="36576" wrap="square">
            <a:noAutofit/>
          </a:bodyPr>
          <a:lstStyle/>
          <a:p>
            <a:pPr algn="ctr"/>
            <a:r>
              <a:rPr sz="1500" b="1" i="0">
                <a:solidFill>
                  <a:srgbClr val="007F86"/>
                </a:solidFill>
                <a:latin typeface="Arial"/>
              </a:rPr>
              <a:t>Time between frames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6256" y="1691640"/>
            <a:ext cx="2788920" cy="2971799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25712" y="1691640"/>
            <a:ext cx="2514600" cy="29717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219456" indent="-219456">
              <a:spcAft>
                <a:spcPts val="100"/>
              </a:spcAft>
              <a:buClr>
                <a:srgbClr val="F58220"/>
              </a:buClr>
              <a:buSzPct val="85000"/>
              <a:buFont typeface="Arial"/>
              <a:buChar char="■"/>
            </a:pPr>
            <a:r>
              <a:rPr sz="1600" b="1" i="0">
                <a:solidFill>
                  <a:srgbClr val="004282"/>
                </a:solidFill>
                <a:latin typeface="Arial"/>
              </a:rPr>
              <a:t>Thumb and middle</a:t>
            </a:r>
          </a:p>
          <a:p>
            <a:pPr algn="l" marL="219456">
              <a:spcAft>
                <a:spcPts val="1200"/>
              </a:spcAft>
            </a:pPr>
            <a:r>
              <a:rPr sz="1350" b="0" i="0">
                <a:solidFill>
                  <a:srgbClr val="5B6777"/>
                </a:solidFill>
                <a:latin typeface="Arial"/>
              </a:rPr>
              <a:t>move</a:t>
            </a:r>
          </a:p>
          <a:p>
            <a:pPr algn="l" marL="219456" indent="-219456">
              <a:spcAft>
                <a:spcPts val="100"/>
              </a:spcAft>
              <a:buClr>
                <a:srgbClr val="F58220"/>
              </a:buClr>
              <a:buSzPct val="85000"/>
              <a:buFont typeface="Arial"/>
              <a:buChar char="■"/>
            </a:pPr>
            <a:r>
              <a:rPr sz="1600" b="1" i="0">
                <a:solidFill>
                  <a:srgbClr val="004282"/>
                </a:solidFill>
                <a:latin typeface="Arial"/>
              </a:rPr>
              <a:t>Thumb and index</a:t>
            </a:r>
          </a:p>
          <a:p>
            <a:pPr algn="l" marL="219456">
              <a:spcAft>
                <a:spcPts val="1200"/>
              </a:spcAft>
            </a:pPr>
            <a:r>
              <a:rPr sz="1350" b="0" i="0">
                <a:solidFill>
                  <a:srgbClr val="5B6777"/>
                </a:solidFill>
                <a:latin typeface="Arial"/>
              </a:rPr>
              <a:t>click</a:t>
            </a:r>
          </a:p>
          <a:p>
            <a:pPr algn="l" marL="219456" indent="-219456">
              <a:spcAft>
                <a:spcPts val="100"/>
              </a:spcAft>
              <a:buClr>
                <a:srgbClr val="F58220"/>
              </a:buClr>
              <a:buSzPct val="85000"/>
              <a:buFont typeface="Arial"/>
              <a:buChar char="■"/>
            </a:pPr>
            <a:r>
              <a:rPr sz="1600" b="1" i="0">
                <a:solidFill>
                  <a:srgbClr val="004282"/>
                </a:solidFill>
                <a:latin typeface="Arial"/>
              </a:rPr>
              <a:t>Thumb and ring</a:t>
            </a:r>
          </a:p>
          <a:p>
            <a:pPr algn="l" marL="219456">
              <a:spcAft>
                <a:spcPts val="1200"/>
              </a:spcAft>
            </a:pPr>
            <a:r>
              <a:rPr sz="1350" b="0" i="0">
                <a:solidFill>
                  <a:srgbClr val="5B6777"/>
                </a:solidFill>
                <a:latin typeface="Arial"/>
              </a:rPr>
              <a:t>right click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sz="1300" b="0" i="0">
                <a:solidFill>
                  <a:srgbClr val="1F2A37"/>
                </a:solidFill>
                <a:latin typeface="Arial"/>
              </a:rPr>
              <a:t>Contacts can be on together: </a:t>
            </a:r>
            <a:r>
              <a:rPr sz="1300" b="1" i="0">
                <a:solidFill>
                  <a:srgbClr val="004282"/>
                </a:solidFill>
                <a:latin typeface="Arial"/>
              </a:rPr>
              <a:t>a drag is the first two, held.</a:t>
            </a:r>
          </a:p>
        </p:txBody>
      </p:sp>
      <p:sp>
        <p:nvSpPr>
          <p:cNvPr id="21" name="Chevron 20"/>
          <p:cNvSpPr/>
          <p:nvPr/>
        </p:nvSpPr>
        <p:spPr>
          <a:xfrm>
            <a:off x="2875788" y="2994659"/>
            <a:ext cx="128016" cy="365760"/>
          </a:xfrm>
          <a:prstGeom prst="chevron">
            <a:avLst/>
          </a:prstGeom>
          <a:solidFill>
            <a:srgbClr val="5B6777"/>
          </a:solidFill>
          <a:ln>
            <a:noFill/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22" name="Chevron 21"/>
          <p:cNvSpPr/>
          <p:nvPr/>
        </p:nvSpPr>
        <p:spPr>
          <a:xfrm>
            <a:off x="5801868" y="2994659"/>
            <a:ext cx="128016" cy="365760"/>
          </a:xfrm>
          <a:prstGeom prst="chevron">
            <a:avLst/>
          </a:prstGeom>
          <a:solidFill>
            <a:srgbClr val="5B6777"/>
          </a:solidFill>
          <a:ln>
            <a:noFill/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23" name="Chevron 22"/>
          <p:cNvSpPr/>
          <p:nvPr/>
        </p:nvSpPr>
        <p:spPr>
          <a:xfrm>
            <a:off x="8727948" y="2994659"/>
            <a:ext cx="128016" cy="365760"/>
          </a:xfrm>
          <a:prstGeom prst="chevron">
            <a:avLst/>
          </a:prstGeom>
          <a:solidFill>
            <a:srgbClr val="5B6777"/>
          </a:solidFill>
          <a:ln>
            <a:noFill/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93776" y="4846320"/>
            <a:ext cx="112014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FD8E3"/>
            </a:solidFill>
          </a:ln>
        </p:spPr>
        <p:txBody>
          <a:bodyPr rtlCol="0" anchor="ctr" lIns="228600" rIns="228600" tIns="36576" bIns="36576" wrap="square">
            <a:noAutofit/>
          </a:bodyPr>
          <a:lstStyle/>
          <a:p>
            <a:pPr algn="l"/>
            <a:r>
              <a:rPr sz="1200" b="1" i="0">
                <a:solidFill>
                  <a:srgbClr val="007F86"/>
                </a:solidFill>
                <a:latin typeface="Arial"/>
              </a:rPr>
              <a:t>EXAMPLE   </a:t>
            </a:r>
            <a:r>
              <a:rPr sz="1400" b="0" i="0">
                <a:solidFill>
                  <a:srgbClr val="1F2A37"/>
                </a:solidFill>
                <a:latin typeface="Arial"/>
              </a:rPr>
              <a:t>The index tip moves to the thumb</a:t>
            </a:r>
            <a:r>
              <a:rPr sz="1400" b="0" i="0">
                <a:solidFill>
                  <a:srgbClr val="5B6777"/>
                </a:solidFill>
                <a:latin typeface="Arial"/>
              </a:rPr>
              <a:t>   →   </a:t>
            </a:r>
            <a:r>
              <a:rPr sz="1400" b="0" i="0">
                <a:solidFill>
                  <a:srgbClr val="1F2A37"/>
                </a:solidFill>
                <a:latin typeface="Arial"/>
              </a:rPr>
              <a:t>the thumb–index distance falls over a few frames</a:t>
            </a:r>
            <a:r>
              <a:rPr sz="1400" b="0" i="0">
                <a:solidFill>
                  <a:srgbClr val="5B6777"/>
                </a:solidFill>
                <a:latin typeface="Arial"/>
              </a:rPr>
              <a:t>   →   </a:t>
            </a:r>
            <a:r>
              <a:rPr sz="1400" b="1" i="0">
                <a:solidFill>
                  <a:srgbClr val="004282"/>
                </a:solidFill>
                <a:latin typeface="Arial"/>
              </a:rPr>
              <a:t>thumb and index: touching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" y="5632704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4282"/>
                </a:solidFill>
                <a:latin typeface="Arial"/>
              </a:rPr>
              <a:t>Labels  </a:t>
            </a:r>
            <a:r>
              <a:rPr sz="1400" b="0" i="0">
                <a:solidFill>
                  <a:srgbClr val="1F2A37"/>
                </a:solidFill>
                <a:latin typeface="Arial"/>
              </a:rPr>
              <a:t>prompts organise each trial  ·  the team reviews every label  ·  uncertain moments are marked, not guessed</a:t>
            </a:r>
          </a:p>
          <a:p>
            <a:pPr algn="ctr"/>
            <a:r>
              <a:rPr sz="1400" b="1" i="0">
                <a:solidFill>
                  <a:srgbClr val="004282"/>
                </a:solidFill>
                <a:latin typeface="Arial"/>
              </a:rPr>
              <a:t>Labels are never copied from the rules' own output</a:t>
            </a:r>
            <a:r>
              <a:rPr sz="1400" b="0" i="0">
                <a:solidFill>
                  <a:srgbClr val="1F2A37"/>
                </a:solidFill>
                <a:latin typeface="Arial"/>
              </a:rPr>
              <a:t>; a second member checks a sample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004282"/>
                </a:solidFill>
                <a:latin typeface="Arial"/>
              </a:rPr>
              <a:t>System design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0E9986C9-A00B-6B19-CEE4-2BAD5640537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37776" y="6492881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 sz="1100">
                <a:latin typeface="Arial"/>
              </a:rPr>
              <a:pPr/>
              <a:t>‹#›</a:t>
            </a:fld>
            <a:endParaRPr lang="en-SG" dirty="0"/>
          </a:p>
        </p:txBody>
      </p:sp>
      <p:sp>
        <p:nvSpPr>
          <p:cNvPr id="5" name="TextBox 4"/>
          <p:cNvSpPr txBox="1"/>
          <p:nvPr/>
        </p:nvSpPr>
        <p:spPr>
          <a:xfrm>
            <a:off x="493776" y="6419088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9AA6B5"/>
                </a:solidFill>
                <a:latin typeface="Arial"/>
              </a:rPr>
              <a:t>1  Objectives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2  Scope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3  Data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1" i="0">
                <a:solidFill>
                  <a:srgbClr val="004282"/>
                </a:solidFill>
                <a:latin typeface="Arial"/>
              </a:rPr>
              <a:t>4  Technical approach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5  Done so far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371600"/>
            <a:ext cx="1645920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004282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481328"/>
            <a:ext cx="164592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600" b="1" i="0">
                <a:solidFill>
                  <a:srgbClr val="004282"/>
                </a:solidFill>
                <a:latin typeface="Arial"/>
              </a:rPr>
              <a:t>Camera</a:t>
            </a:r>
          </a:p>
        </p:txBody>
      </p:sp>
      <p:pic>
        <p:nvPicPr>
          <p:cNvPr id="8" name="Picture 7" descr="icon_lap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1920240"/>
            <a:ext cx="1005840" cy="7242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5216" y="278892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5B6777"/>
                </a:solidFill>
                <a:latin typeface="Arial"/>
              </a:rPr>
              <a:t>Ordinary webcam; frames stay on the laptop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5456" y="1371600"/>
            <a:ext cx="1874519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004282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05456" y="1481328"/>
            <a:ext cx="1874519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600" b="1" i="0">
                <a:solidFill>
                  <a:srgbClr val="004282"/>
                </a:solidFill>
                <a:latin typeface="Arial"/>
              </a:rPr>
              <a:t>Hand keypoints</a:t>
            </a:r>
          </a:p>
        </p:txBody>
      </p:sp>
      <p:pic>
        <p:nvPicPr>
          <p:cNvPr id="12" name="Picture 11" descr="hand_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1810512"/>
            <a:ext cx="938784" cy="1005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96896" y="2834640"/>
            <a:ext cx="1691639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5B6777"/>
                </a:solidFill>
                <a:latin typeface="Arial"/>
              </a:rPr>
              <a:t>21 points per frame, pretrained MediaPipe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45736" y="1371600"/>
            <a:ext cx="2788920" cy="9601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4282"/>
            </a:solidFill>
          </a:ln>
        </p:spPr>
        <p:txBody>
          <a:bodyPr rtlCol="0" anchor="ctr" lIns="146304" rIns="146304" tIns="36576" bIns="36576" wrap="square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04282"/>
                </a:solidFill>
                <a:latin typeface="Arial"/>
              </a:rPr>
              <a:t>Where to point</a:t>
            </a:r>
          </a:p>
          <a:p>
            <a:pPr algn="l"/>
            <a:r>
              <a:rPr sz="1300" b="0" i="0">
                <a:solidFill>
                  <a:srgbClr val="5B6777"/>
                </a:solidFill>
                <a:latin typeface="Arial"/>
              </a:rPr>
              <a:t>Smoothing and sensitivity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45736" y="2514600"/>
            <a:ext cx="2788920" cy="960119"/>
          </a:xfrm>
          <a:prstGeom prst="roundRect">
            <a:avLst>
              <a:gd name="adj" fmla="val 12000"/>
            </a:avLst>
          </a:prstGeom>
          <a:solidFill>
            <a:srgbClr val="004282"/>
          </a:solidFill>
          <a:ln w="15875">
            <a:solidFill>
              <a:srgbClr val="004282"/>
            </a:solidFill>
          </a:ln>
        </p:spPr>
        <p:txBody>
          <a:bodyPr rtlCol="0" anchor="ctr" lIns="146304" rIns="146304" tIns="36576" bIns="36576" wrap="square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Which fingers touch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Tuned rules or learned contact models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0416" y="1371600"/>
            <a:ext cx="2011680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004282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0416" y="1481328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600" b="1" i="0">
                <a:solidFill>
                  <a:srgbClr val="004282"/>
                </a:solidFill>
                <a:latin typeface="Arial"/>
              </a:rPr>
              <a:t>Interaction 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1901952"/>
            <a:ext cx="1645920" cy="301752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</p:spPr>
        <p:txBody>
          <a:bodyPr rtlCol="0" anchor="ctr" lIns="54864" rIns="54864" tIns="36576" bIns="36576" wrap="square">
            <a:noAutofit/>
          </a:bodyPr>
          <a:lstStyle/>
          <a:p>
            <a:pPr algn="ctr"/>
            <a:r>
              <a:rPr sz="1250" b="0" i="0">
                <a:solidFill>
                  <a:srgbClr val="004282"/>
                </a:solidFill>
                <a:latin typeface="Arial"/>
              </a:rPr>
              <a:t>Click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2276856"/>
            <a:ext cx="1645920" cy="301752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</p:spPr>
        <p:txBody>
          <a:bodyPr rtlCol="0" anchor="ctr" lIns="54864" rIns="54864" tIns="36576" bIns="36576" wrap="square">
            <a:noAutofit/>
          </a:bodyPr>
          <a:lstStyle/>
          <a:p>
            <a:pPr algn="ctr"/>
            <a:r>
              <a:rPr sz="1250" b="0" i="0">
                <a:solidFill>
                  <a:srgbClr val="004282"/>
                </a:solidFill>
                <a:latin typeface="Arial"/>
              </a:rPr>
              <a:t>Drag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2651760"/>
            <a:ext cx="1645920" cy="301752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</p:spPr>
        <p:txBody>
          <a:bodyPr rtlCol="0" anchor="ctr" lIns="54864" rIns="54864" tIns="36576" bIns="36576" wrap="square">
            <a:noAutofit/>
          </a:bodyPr>
          <a:lstStyle/>
          <a:p>
            <a:pPr algn="ctr"/>
            <a:r>
              <a:rPr sz="1250" b="0" i="0">
                <a:solidFill>
                  <a:srgbClr val="004282"/>
                </a:solidFill>
                <a:latin typeface="Arial"/>
              </a:rPr>
              <a:t>Scroll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83296" y="3026664"/>
            <a:ext cx="1645920" cy="301752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</p:spPr>
        <p:txBody>
          <a:bodyPr rtlCol="0" anchor="ctr" lIns="54864" rIns="54864" tIns="36576" bIns="36576" wrap="square">
            <a:noAutofit/>
          </a:bodyPr>
          <a:lstStyle/>
          <a:p>
            <a:pPr algn="ctr"/>
            <a:r>
              <a:rPr sz="1250" b="0" i="0">
                <a:solidFill>
                  <a:srgbClr val="004282"/>
                </a:solidFill>
                <a:latin typeface="Arial"/>
              </a:rPr>
              <a:t>Pause and release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77856" y="1371600"/>
            <a:ext cx="1417320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004282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77856" y="1481328"/>
            <a:ext cx="141732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600" b="1" i="0">
                <a:solidFill>
                  <a:srgbClr val="004282"/>
                </a:solidFill>
                <a:latin typeface="Arial"/>
              </a:rPr>
              <a:t>Desktop</a:t>
            </a:r>
          </a:p>
        </p:txBody>
      </p:sp>
      <p:pic>
        <p:nvPicPr>
          <p:cNvPr id="24" name="Picture 23" descr="icon_poin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2176" y="1938528"/>
            <a:ext cx="868680" cy="73837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369296" y="2834640"/>
            <a:ext cx="12344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2000"/>
              </a:lnSpc>
            </a:pPr>
            <a:r>
              <a:rPr sz="1200" b="0" i="0">
                <a:solidFill>
                  <a:srgbClr val="5B6777"/>
                </a:solidFill>
                <a:latin typeface="Arial"/>
              </a:rPr>
              <a:t>macOS and Windows mouse events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167127" y="2423160"/>
            <a:ext cx="310897" cy="0"/>
          </a:xfrm>
          <a:prstGeom prst="line">
            <a:avLst/>
          </a:prstGeom>
          <a:ln w="19050">
            <a:solidFill>
              <a:srgbClr val="004282"/>
            </a:solidFill>
            <a:tailEnd type="triangle" w="med" len="med"/>
          </a:ln>
        </p:spPr>
      </p:cxnSp>
      <p:cxnSp>
        <p:nvCxnSpPr>
          <p:cNvPr id="27" name="Connector 26"/>
          <p:cNvCxnSpPr/>
          <p:nvPr/>
        </p:nvCxnSpPr>
        <p:spPr>
          <a:xfrm>
            <a:off x="4407408" y="1851660"/>
            <a:ext cx="310896" cy="0"/>
          </a:xfrm>
          <a:prstGeom prst="line">
            <a:avLst/>
          </a:prstGeom>
          <a:ln w="19050">
            <a:solidFill>
              <a:srgbClr val="004282"/>
            </a:solidFill>
            <a:tailEnd type="triangle" w="med" len="med"/>
          </a:ln>
        </p:spPr>
      </p:cxnSp>
      <p:cxnSp>
        <p:nvCxnSpPr>
          <p:cNvPr id="28" name="Connector 27"/>
          <p:cNvCxnSpPr/>
          <p:nvPr/>
        </p:nvCxnSpPr>
        <p:spPr>
          <a:xfrm>
            <a:off x="4407408" y="2994660"/>
            <a:ext cx="310896" cy="0"/>
          </a:xfrm>
          <a:prstGeom prst="line">
            <a:avLst/>
          </a:prstGeom>
          <a:ln w="19050">
            <a:solidFill>
              <a:srgbClr val="004282"/>
            </a:solidFill>
            <a:tailEnd type="triangle" w="med" len="med"/>
          </a:ln>
        </p:spPr>
      </p:cxnSp>
      <p:cxnSp>
        <p:nvCxnSpPr>
          <p:cNvPr id="29" name="Connector 28"/>
          <p:cNvCxnSpPr/>
          <p:nvPr/>
        </p:nvCxnSpPr>
        <p:spPr>
          <a:xfrm>
            <a:off x="7562088" y="1851660"/>
            <a:ext cx="310896" cy="0"/>
          </a:xfrm>
          <a:prstGeom prst="line">
            <a:avLst/>
          </a:prstGeom>
          <a:ln w="19050">
            <a:solidFill>
              <a:srgbClr val="004282"/>
            </a:solidFill>
            <a:tailEnd type="triangle" w="med" len="med"/>
          </a:ln>
        </p:spPr>
      </p:cxnSp>
      <p:cxnSp>
        <p:nvCxnSpPr>
          <p:cNvPr id="30" name="Connector 29"/>
          <p:cNvCxnSpPr/>
          <p:nvPr/>
        </p:nvCxnSpPr>
        <p:spPr>
          <a:xfrm>
            <a:off x="7562088" y="2994660"/>
            <a:ext cx="310896" cy="0"/>
          </a:xfrm>
          <a:prstGeom prst="line">
            <a:avLst/>
          </a:prstGeom>
          <a:ln w="19050">
            <a:solidFill>
              <a:srgbClr val="004282"/>
            </a:solidFill>
            <a:tailEnd type="triangle" w="med" len="med"/>
          </a:ln>
        </p:spPr>
      </p:cxnSp>
      <p:cxnSp>
        <p:nvCxnSpPr>
          <p:cNvPr id="31" name="Connector 30"/>
          <p:cNvCxnSpPr/>
          <p:nvPr/>
        </p:nvCxnSpPr>
        <p:spPr>
          <a:xfrm>
            <a:off x="9939528" y="2423160"/>
            <a:ext cx="310896" cy="0"/>
          </a:xfrm>
          <a:prstGeom prst="line">
            <a:avLst/>
          </a:prstGeom>
          <a:ln w="19050">
            <a:solidFill>
              <a:srgbClr val="004282"/>
            </a:solidFill>
            <a:tailEnd type="triangle" w="med" len="med"/>
          </a:ln>
        </p:spPr>
      </p:cxnSp>
      <p:cxnSp>
        <p:nvCxnSpPr>
          <p:cNvPr id="32" name="Connector 31"/>
          <p:cNvCxnSpPr/>
          <p:nvPr/>
        </p:nvCxnSpPr>
        <p:spPr>
          <a:xfrm flipV="1">
            <a:off x="6140196" y="3511296"/>
            <a:ext cx="0" cy="438912"/>
          </a:xfrm>
          <a:prstGeom prst="line">
            <a:avLst/>
          </a:prstGeom>
          <a:ln w="19050">
            <a:solidFill>
              <a:srgbClr val="007F86"/>
            </a:solidFill>
            <a:tailEnd type="triangle" w="med" len="med"/>
          </a:ln>
        </p:spPr>
      </p:cxnSp>
      <p:sp>
        <p:nvSpPr>
          <p:cNvPr id="33" name="Rounded Rectangle 32"/>
          <p:cNvSpPr/>
          <p:nvPr/>
        </p:nvSpPr>
        <p:spPr>
          <a:xfrm>
            <a:off x="4219956" y="3950208"/>
            <a:ext cx="3840480" cy="457200"/>
          </a:xfrm>
          <a:prstGeom prst="roundRect">
            <a:avLst>
              <a:gd name="adj" fmla="val 30000"/>
            </a:avLst>
          </a:prstGeom>
          <a:solidFill>
            <a:srgbClr val="E3F6F7"/>
          </a:solidFill>
          <a:ln w="9525">
            <a:solidFill>
              <a:srgbClr val="00B6BD"/>
            </a:solidFill>
            <a:prstDash val="dash"/>
          </a:ln>
        </p:spPr>
        <p:txBody>
          <a:bodyPr rtlCol="0" anchor="ctr" tIns="36576" bIns="36576" wrap="square">
            <a:noAutofit/>
          </a:bodyPr>
          <a:lstStyle/>
          <a:p>
            <a:pPr algn="ctr"/>
            <a:r>
              <a:rPr sz="1300" b="0" i="1">
                <a:solidFill>
                  <a:srgbClr val="007F86"/>
                </a:solidFill>
                <a:latin typeface="Arial"/>
              </a:rPr>
              <a:t>trained on team recordings with reviewed labels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3776" y="4526280"/>
            <a:ext cx="3611880" cy="128016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6" y="4617720"/>
            <a:ext cx="320040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4282"/>
                </a:solidFill>
                <a:latin typeface="Arial"/>
              </a:rPr>
              <a:t>One shared interaction layer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F2A37"/>
                </a:solidFill>
                <a:latin typeface="Arial"/>
              </a:rPr>
              <a:t>Recognisers can be swapped and compared without changing the gesture design.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88536" y="4526280"/>
            <a:ext cx="3611880" cy="128016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17136" y="4617720"/>
            <a:ext cx="320040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4282"/>
                </a:solidFill>
                <a:latin typeface="Arial"/>
              </a:rPr>
              <a:t>Safe by default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F2A37"/>
                </a:solidFill>
                <a:latin typeface="Arial"/>
              </a:rPr>
              <a:t>One control hand will be locked; losing the hand will pause control and release held buttons.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83296" y="4526280"/>
            <a:ext cx="3611880" cy="128016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11896" y="4617720"/>
            <a:ext cx="320040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4282"/>
                </a:solidFill>
                <a:latin typeface="Arial"/>
              </a:rPr>
              <a:t>Tools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F2A37"/>
                </a:solidFill>
                <a:latin typeface="Arial"/>
              </a:rPr>
              <a:t>Python, PySide6, MediaPipe, scikit-learn and PyTorch; one control engine for macOS and Windows.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004282"/>
                </a:solidFill>
                <a:latin typeface="Arial"/>
              </a:rPr>
              <a:t>Pattern recognition techniques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0E9986C9-A00B-6B19-CEE4-2BAD5640537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37776" y="6492881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 sz="1100">
                <a:latin typeface="Arial"/>
              </a:rPr>
              <a:pPr/>
              <a:t>‹#›</a:t>
            </a:fld>
            <a:endParaRPr lang="en-SG" dirty="0"/>
          </a:p>
        </p:txBody>
      </p:sp>
      <p:sp>
        <p:nvSpPr>
          <p:cNvPr id="5" name="TextBox 4"/>
          <p:cNvSpPr txBox="1"/>
          <p:nvPr/>
        </p:nvSpPr>
        <p:spPr>
          <a:xfrm>
            <a:off x="493776" y="6419088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9AA6B5"/>
                </a:solidFill>
                <a:latin typeface="Arial"/>
              </a:rPr>
              <a:t>1  Objectives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2  Scope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3  Data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1" i="0">
                <a:solidFill>
                  <a:srgbClr val="004282"/>
                </a:solidFill>
                <a:latin typeface="Arial"/>
              </a:rPr>
              <a:t>4  Technical approach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5  Done so far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325880"/>
            <a:ext cx="2651760" cy="269748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2286000" cy="2468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007F86"/>
                </a:solidFill>
                <a:latin typeface="Arial"/>
              </a:rPr>
              <a:t>SUPERVISED / UNSUPERVISED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900" b="1" i="0">
                <a:solidFill>
                  <a:srgbClr val="004282"/>
                </a:solidFill>
                <a:latin typeface="Arial"/>
              </a:rPr>
              <a:t>Labels and reconstruction</a:t>
            </a:r>
          </a:p>
          <a:p>
            <a:pPr algn="l">
              <a:lnSpc>
                <a:spcPct val="106000"/>
              </a:lnSpc>
            </a:pPr>
            <a:r>
              <a:rPr sz="1500" b="0" i="0">
                <a:solidFill>
                  <a:srgbClr val="1F2A37"/>
                </a:solidFill>
                <a:latin typeface="Arial"/>
              </a:rPr>
              <a:t>Reviewed contact labels train the recognisers. An autoencoder learns features from unlabelled keypoint sequences.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3686" y="1325880"/>
            <a:ext cx="2651760" cy="269748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4854" y="1481328"/>
            <a:ext cx="2286000" cy="2468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007F86"/>
                </a:solidFill>
                <a:latin typeface="Arial"/>
              </a:rPr>
              <a:t>MACHINE / DEEP LEARNING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900" b="1" i="0">
                <a:solidFill>
                  <a:srgbClr val="004282"/>
                </a:solidFill>
                <a:latin typeface="Arial"/>
              </a:rPr>
              <a:t>Random forest and temporal CNN</a:t>
            </a:r>
          </a:p>
          <a:p>
            <a:pPr algn="l">
              <a:lnSpc>
                <a:spcPct val="106000"/>
              </a:lnSpc>
            </a:pPr>
            <a:r>
              <a:rPr sz="1500" b="0" i="0">
                <a:solidFill>
                  <a:srgbClr val="1F2A37"/>
                </a:solidFill>
                <a:latin typeface="Arial"/>
              </a:rPr>
              <a:t>Both read the same short keypoint sequence and output three contact decisions.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3596" y="1325880"/>
            <a:ext cx="2651760" cy="269748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4764" y="1481328"/>
            <a:ext cx="2286000" cy="2468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007F86"/>
                </a:solidFill>
                <a:latin typeface="Arial"/>
              </a:rPr>
              <a:t>HYBRID / ENSEMBLE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900" b="1" i="0">
                <a:solidFill>
                  <a:srgbClr val="004282"/>
                </a:solidFill>
                <a:latin typeface="Arial"/>
              </a:rPr>
              <a:t>Combined methods</a:t>
            </a:r>
          </a:p>
          <a:p>
            <a:pPr algn="l">
              <a:lnSpc>
                <a:spcPct val="106000"/>
              </a:lnSpc>
            </a:pPr>
            <a:r>
              <a:rPr sz="1500" b="0" i="0">
                <a:solidFill>
                  <a:srgbClr val="1F2A37"/>
                </a:solidFill>
                <a:latin typeface="Arial"/>
              </a:rPr>
              <a:t>A tree ensemble; pretraining followed by supervised fine-tuning; learned contact with rule-based interaction.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43507" y="1325880"/>
            <a:ext cx="2651760" cy="269748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44675" y="1481328"/>
            <a:ext cx="2286000" cy="2468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007F86"/>
                </a:solidFill>
                <a:latin typeface="Arial"/>
              </a:rPr>
              <a:t>INTELLIGENT SENSING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900" b="1" i="0">
                <a:solidFill>
                  <a:srgbClr val="004282"/>
                </a:solidFill>
                <a:latin typeface="Arial"/>
              </a:rPr>
              <a:t>From camera to action</a:t>
            </a:r>
          </a:p>
          <a:p>
            <a:pPr algn="l">
              <a:lnSpc>
                <a:spcPct val="106000"/>
              </a:lnSpc>
            </a:pPr>
            <a:r>
              <a:rPr sz="1500" b="0" i="0">
                <a:solidFill>
                  <a:srgbClr val="1F2A37"/>
                </a:solidFill>
                <a:latin typeface="Arial"/>
              </a:rPr>
              <a:t>Camera frames become hand keypoints, hand states, stable movement and desktop actions.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4206240"/>
            <a:ext cx="11201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007F86"/>
                </a:solidFill>
                <a:latin typeface="Arial"/>
              </a:rPr>
              <a:t>WHAT WE WILL COMPARE, ON THE SAME RECORDINGS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" y="4544568"/>
            <a:ext cx="2651760" cy="841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004282"/>
            </a:solidFill>
          </a:ln>
        </p:spPr>
        <p:txBody>
          <a:bodyPr rtlCol="0" anchor="ctr" tIns="36576" bIns="36576" wrap="square">
            <a:no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004282"/>
                </a:solidFill>
                <a:latin typeface="Arial"/>
              </a:rPr>
              <a:t>Tuned rules</a:t>
            </a:r>
          </a:p>
          <a:p>
            <a:pPr algn="ctr"/>
            <a:r>
              <a:rPr sz="1250" b="0" i="0">
                <a:solidFill>
                  <a:srgbClr val="5B6777"/>
                </a:solidFill>
                <a:latin typeface="Arial"/>
              </a:rPr>
              <a:t>the baseline and the fallback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43686" y="4544568"/>
            <a:ext cx="2651760" cy="841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004282"/>
            </a:solidFill>
          </a:ln>
        </p:spPr>
        <p:txBody>
          <a:bodyPr rtlCol="0" anchor="ctr" tIns="36576" bIns="36576" wrap="square">
            <a:no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004282"/>
                </a:solidFill>
                <a:latin typeface="Arial"/>
              </a:rPr>
              <a:t>Random forest</a:t>
            </a:r>
          </a:p>
          <a:p>
            <a:pPr algn="ctr"/>
            <a:r>
              <a:rPr sz="1250" b="0" i="0">
                <a:solidFill>
                  <a:srgbClr val="5B6777"/>
                </a:solidFill>
                <a:latin typeface="Arial"/>
              </a:rPr>
              <a:t>a classical learner</a:t>
            </a:r>
          </a:p>
        </p:txBody>
      </p:sp>
      <p:sp>
        <p:nvSpPr>
          <p:cNvPr id="17" name="Chevron 16"/>
          <p:cNvSpPr/>
          <p:nvPr/>
        </p:nvSpPr>
        <p:spPr>
          <a:xfrm>
            <a:off x="3182112" y="4800600"/>
            <a:ext cx="128016" cy="329184"/>
          </a:xfrm>
          <a:prstGeom prst="chevron">
            <a:avLst/>
          </a:prstGeom>
          <a:solidFill>
            <a:srgbClr val="5B6777"/>
          </a:solidFill>
          <a:ln>
            <a:noFill/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3596" y="4544568"/>
            <a:ext cx="2651760" cy="841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004282"/>
            </a:solidFill>
          </a:ln>
        </p:spPr>
        <p:txBody>
          <a:bodyPr rtlCol="0" anchor="ctr" tIns="36576" bIns="36576" wrap="square">
            <a:no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004282"/>
                </a:solidFill>
                <a:latin typeface="Arial"/>
              </a:rPr>
              <a:t>Temporal CNN</a:t>
            </a:r>
          </a:p>
          <a:p>
            <a:pPr algn="ctr"/>
            <a:r>
              <a:rPr sz="1250" b="0" i="0">
                <a:solidFill>
                  <a:srgbClr val="5B6777"/>
                </a:solidFill>
                <a:latin typeface="Arial"/>
              </a:rPr>
              <a:t>learns from the sequence</a:t>
            </a:r>
          </a:p>
        </p:txBody>
      </p:sp>
      <p:sp>
        <p:nvSpPr>
          <p:cNvPr id="19" name="Chevron 18"/>
          <p:cNvSpPr/>
          <p:nvPr/>
        </p:nvSpPr>
        <p:spPr>
          <a:xfrm>
            <a:off x="6032022" y="4800600"/>
            <a:ext cx="128016" cy="329184"/>
          </a:xfrm>
          <a:prstGeom prst="chevron">
            <a:avLst/>
          </a:prstGeom>
          <a:solidFill>
            <a:srgbClr val="5B6777"/>
          </a:solidFill>
          <a:ln>
            <a:noFill/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43507" y="4544568"/>
            <a:ext cx="2651760" cy="841248"/>
          </a:xfrm>
          <a:prstGeom prst="roundRect">
            <a:avLst>
              <a:gd name="adj" fmla="val 14000"/>
            </a:avLst>
          </a:prstGeom>
          <a:solidFill>
            <a:srgbClr val="EEF3F8"/>
          </a:solidFill>
          <a:ln w="15875">
            <a:solidFill>
              <a:srgbClr val="004282"/>
            </a:solidFill>
            <a:prstDash val="dash"/>
          </a:ln>
        </p:spPr>
        <p:txBody>
          <a:bodyPr rtlCol="0" anchor="ctr" tIns="36576" bIns="36576" wrap="square">
            <a:no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004282"/>
                </a:solidFill>
                <a:latin typeface="Arial"/>
              </a:rPr>
              <a:t>CNN + autoencoder pretraining</a:t>
            </a:r>
          </a:p>
          <a:p>
            <a:pPr algn="ctr"/>
            <a:r>
              <a:rPr sz="1250" b="0" i="0">
                <a:solidFill>
                  <a:srgbClr val="5B6777"/>
                </a:solidFill>
                <a:latin typeface="Arial"/>
              </a:rPr>
              <a:t>second priority</a:t>
            </a:r>
          </a:p>
        </p:txBody>
      </p:sp>
      <p:sp>
        <p:nvSpPr>
          <p:cNvPr id="21" name="Chevron 20"/>
          <p:cNvSpPr/>
          <p:nvPr/>
        </p:nvSpPr>
        <p:spPr>
          <a:xfrm>
            <a:off x="8881932" y="4800600"/>
            <a:ext cx="128016" cy="329184"/>
          </a:xfrm>
          <a:prstGeom prst="chevron">
            <a:avLst/>
          </a:prstGeom>
          <a:solidFill>
            <a:srgbClr val="5B6777"/>
          </a:solidFill>
          <a:ln>
            <a:noFill/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0352" y="5705856"/>
            <a:ext cx="164592" cy="16459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596128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 i="0">
                <a:solidFill>
                  <a:srgbClr val="004282"/>
                </a:solidFill>
                <a:latin typeface="Arial"/>
              </a:rPr>
              <a:t>MediaPipe itself is not retrained. </a:t>
            </a:r>
            <a:r>
              <a:rPr sz="1500" b="0" i="0">
                <a:solidFill>
                  <a:srgbClr val="1F2A37"/>
                </a:solidFill>
                <a:latin typeface="Arial"/>
              </a:rPr>
              <a:t>If learning adds little, tuned rules remain a valid fallback.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004282"/>
                </a:solidFill>
                <a:latin typeface="Arial"/>
              </a:rPr>
              <a:t>How one click will be recognised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0E9986C9-A00B-6B19-CEE4-2BAD5640537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37776" y="6492881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 sz="1100">
                <a:latin typeface="Arial"/>
              </a:rPr>
              <a:pPr/>
              <a:t>‹#›</a:t>
            </a:fld>
            <a:endParaRPr lang="en-SG" dirty="0"/>
          </a:p>
        </p:txBody>
      </p:sp>
      <p:sp>
        <p:nvSpPr>
          <p:cNvPr id="5" name="TextBox 4"/>
          <p:cNvSpPr txBox="1"/>
          <p:nvPr/>
        </p:nvSpPr>
        <p:spPr>
          <a:xfrm>
            <a:off x="493776" y="6419088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9AA6B5"/>
                </a:solidFill>
                <a:latin typeface="Arial"/>
              </a:rPr>
              <a:t>1  Objectives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2  Scope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3  Data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1" i="0">
                <a:solidFill>
                  <a:srgbClr val="004282"/>
                </a:solidFill>
                <a:latin typeface="Arial"/>
              </a:rPr>
              <a:t>4  Technical approach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5  Done so far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243584"/>
            <a:ext cx="1828800" cy="329184"/>
          </a:xfrm>
          <a:prstGeom prst="roundRect">
            <a:avLst>
              <a:gd name="adj" fmla="val 40000"/>
            </a:avLst>
          </a:prstGeom>
          <a:solidFill>
            <a:srgbClr val="E3F6F7"/>
          </a:solidFill>
          <a:ln>
            <a:noFill/>
          </a:ln>
        </p:spPr>
        <p:txBody>
          <a:bodyPr rtlCol="0" anchor="ctr" lIns="45720" rIns="45720" tIns="36576" bIns="36576" wrap="square">
            <a:noAutofit/>
          </a:bodyPr>
          <a:lstStyle/>
          <a:p>
            <a:pPr algn="ctr"/>
            <a:r>
              <a:rPr sz="1300" b="1" i="0">
                <a:solidFill>
                  <a:srgbClr val="007F86"/>
                </a:solidFill>
                <a:latin typeface="Arial"/>
              </a:rPr>
              <a:t>Worked 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737360"/>
            <a:ext cx="2093976" cy="324612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76656" y="1920240"/>
            <a:ext cx="438912" cy="438912"/>
          </a:xfrm>
          <a:prstGeom prst="ellipse">
            <a:avLst/>
          </a:prstGeom>
          <a:solidFill>
            <a:srgbClr val="004282"/>
          </a:solidFill>
          <a:ln>
            <a:noFill/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6" y="1965960"/>
            <a:ext cx="127101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004282"/>
                </a:solidFill>
                <a:latin typeface="Arial"/>
              </a:rPr>
              <a:t>Frames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560320"/>
            <a:ext cx="1773936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A37"/>
                </a:solidFill>
                <a:latin typeface="Arial"/>
              </a:rPr>
              <a:t>The thumb and middle finger are together; the index finger moves to the thumb.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70632" y="1737360"/>
            <a:ext cx="2093976" cy="324612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53512" y="1920240"/>
            <a:ext cx="438912" cy="438912"/>
          </a:xfrm>
          <a:prstGeom prst="ellipse">
            <a:avLst/>
          </a:prstGeom>
          <a:solidFill>
            <a:srgbClr val="004282"/>
          </a:solidFill>
          <a:ln>
            <a:noFill/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1965960"/>
            <a:ext cx="127101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004282"/>
                </a:solidFill>
                <a:latin typeface="Arial"/>
              </a:rPr>
              <a:t>Keypoints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2560320"/>
            <a:ext cx="1773936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A37"/>
                </a:solidFill>
                <a:latin typeface="Arial"/>
              </a:rPr>
              <a:t>MediaPipe gives 21 keypoints per frame; the thumb–index distance shrinks.</a:t>
            </a:r>
          </a:p>
        </p:txBody>
      </p:sp>
      <p:sp>
        <p:nvSpPr>
          <p:cNvPr id="15" name="Chevron 14"/>
          <p:cNvSpPr/>
          <p:nvPr/>
        </p:nvSpPr>
        <p:spPr>
          <a:xfrm>
            <a:off x="2615184" y="3108960"/>
            <a:ext cx="128016" cy="310896"/>
          </a:xfrm>
          <a:prstGeom prst="chevron">
            <a:avLst/>
          </a:prstGeom>
          <a:solidFill>
            <a:srgbClr val="5B6777"/>
          </a:solidFill>
          <a:ln>
            <a:noFill/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47488" y="1737360"/>
            <a:ext cx="2093976" cy="3246120"/>
          </a:xfrm>
          <a:prstGeom prst="roundRect">
            <a:avLst>
              <a:gd name="adj" fmla="val 6000"/>
            </a:avLst>
          </a:prstGeom>
          <a:solidFill>
            <a:srgbClr val="FEF1E6"/>
          </a:solidFill>
          <a:ln w="15875">
            <a:solidFill>
              <a:srgbClr val="F58220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30368" y="1920240"/>
            <a:ext cx="438912" cy="438912"/>
          </a:xfrm>
          <a:prstGeom prst="ellipse">
            <a:avLst/>
          </a:prstGeom>
          <a:solidFill>
            <a:srgbClr val="004282"/>
          </a:solidFill>
          <a:ln>
            <a:noFill/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9008" y="1965960"/>
            <a:ext cx="127101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004282"/>
                </a:solidFill>
                <a:latin typeface="Arial"/>
              </a:rPr>
              <a:t>Recogniser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2560320"/>
            <a:ext cx="1773936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A37"/>
                </a:solidFill>
                <a:latin typeface="Arial"/>
              </a:rPr>
              <a:t>Reads the last few frames and outputs three contact decisions.</a:t>
            </a:r>
          </a:p>
        </p:txBody>
      </p:sp>
      <p:sp>
        <p:nvSpPr>
          <p:cNvPr id="20" name="Chevron 19"/>
          <p:cNvSpPr/>
          <p:nvPr/>
        </p:nvSpPr>
        <p:spPr>
          <a:xfrm>
            <a:off x="4892040" y="3108960"/>
            <a:ext cx="128016" cy="310896"/>
          </a:xfrm>
          <a:prstGeom prst="chevron">
            <a:avLst/>
          </a:prstGeom>
          <a:solidFill>
            <a:srgbClr val="5B6777"/>
          </a:solidFill>
          <a:ln>
            <a:noFill/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24344" y="1737360"/>
            <a:ext cx="2093976" cy="324612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07224" y="1920240"/>
            <a:ext cx="438912" cy="438912"/>
          </a:xfrm>
          <a:prstGeom prst="ellipse">
            <a:avLst/>
          </a:prstGeom>
          <a:solidFill>
            <a:srgbClr val="004282"/>
          </a:solidFill>
          <a:ln>
            <a:noFill/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55864" y="1965960"/>
            <a:ext cx="127101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004282"/>
                </a:solidFill>
                <a:latin typeface="Arial"/>
              </a:rPr>
              <a:t>Interaction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7224" y="2560320"/>
            <a:ext cx="1773936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A37"/>
                </a:solidFill>
                <a:latin typeface="Arial"/>
              </a:rPr>
              <a:t>Touch, then release: a click at the held position. Held with the grip: a drag.</a:t>
            </a:r>
          </a:p>
        </p:txBody>
      </p:sp>
      <p:sp>
        <p:nvSpPr>
          <p:cNvPr id="25" name="Chevron 24"/>
          <p:cNvSpPr/>
          <p:nvPr/>
        </p:nvSpPr>
        <p:spPr>
          <a:xfrm>
            <a:off x="7168896" y="3108960"/>
            <a:ext cx="128016" cy="310896"/>
          </a:xfrm>
          <a:prstGeom prst="chevron">
            <a:avLst/>
          </a:prstGeom>
          <a:solidFill>
            <a:srgbClr val="5B6777"/>
          </a:solidFill>
          <a:ln>
            <a:noFill/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01200" y="1737360"/>
            <a:ext cx="2093976" cy="324612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784080" y="1920240"/>
            <a:ext cx="438912" cy="438912"/>
          </a:xfrm>
          <a:prstGeom prst="ellipse">
            <a:avLst/>
          </a:prstGeom>
          <a:solidFill>
            <a:srgbClr val="004282"/>
          </a:solidFill>
          <a:ln>
            <a:noFill/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1965960"/>
            <a:ext cx="127101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004282"/>
                </a:solidFill>
                <a:latin typeface="Arial"/>
              </a:rPr>
              <a:t>Desktop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2560320"/>
            <a:ext cx="1773936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A37"/>
                </a:solidFill>
                <a:latin typeface="Arial"/>
              </a:rPr>
              <a:t>The operating system receives an ordinary mouse click.</a:t>
            </a:r>
          </a:p>
        </p:txBody>
      </p:sp>
      <p:sp>
        <p:nvSpPr>
          <p:cNvPr id="30" name="Chevron 29"/>
          <p:cNvSpPr/>
          <p:nvPr/>
        </p:nvSpPr>
        <p:spPr>
          <a:xfrm>
            <a:off x="9445752" y="3108960"/>
            <a:ext cx="128016" cy="310896"/>
          </a:xfrm>
          <a:prstGeom prst="chevron">
            <a:avLst/>
          </a:prstGeom>
          <a:solidFill>
            <a:srgbClr val="5B6777"/>
          </a:solidFill>
          <a:ln>
            <a:noFill/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pic>
        <p:nvPicPr>
          <p:cNvPr id="31" name="Picture 30" descr="hand_mo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3886200"/>
            <a:ext cx="810768" cy="868680"/>
          </a:xfrm>
          <a:prstGeom prst="rect">
            <a:avLst/>
          </a:prstGeom>
        </p:spPr>
      </p:pic>
      <p:cxnSp>
        <p:nvCxnSpPr>
          <p:cNvPr id="32" name="Connector 31"/>
          <p:cNvCxnSpPr/>
          <p:nvPr/>
        </p:nvCxnSpPr>
        <p:spPr>
          <a:xfrm>
            <a:off x="1481328" y="4343400"/>
            <a:ext cx="182880" cy="0"/>
          </a:xfrm>
          <a:prstGeom prst="line">
            <a:avLst/>
          </a:prstGeom>
          <a:ln w="15875">
            <a:solidFill>
              <a:srgbClr val="5B6777"/>
            </a:solidFill>
            <a:tailEnd type="triangle" w="med" len="med"/>
          </a:ln>
        </p:spPr>
      </p:cxnSp>
      <p:pic>
        <p:nvPicPr>
          <p:cNvPr id="33" name="Picture 32" descr="hand_trip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776" y="3886200"/>
            <a:ext cx="810768" cy="868680"/>
          </a:xfrm>
          <a:prstGeom prst="rect">
            <a:avLst/>
          </a:prstGeom>
        </p:spPr>
      </p:pic>
      <p:pic>
        <p:nvPicPr>
          <p:cNvPr id="34" name="Picture 33" descr="gap_ske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3904487"/>
            <a:ext cx="1600200" cy="72009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862072" y="4645152"/>
            <a:ext cx="191109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00" b="0" i="1">
                <a:solidFill>
                  <a:srgbClr val="5B6777"/>
                </a:solidFill>
                <a:latin typeface="Arial"/>
              </a:rPr>
              <a:t>distance over time (sketch)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0368" y="3703320"/>
            <a:ext cx="172821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B45309"/>
                </a:solidFill>
                <a:latin typeface="Arial"/>
              </a:rPr>
              <a:t>THUMB WITH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12080" y="3941063"/>
            <a:ext cx="17647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lIns="54864" rIns="54864" tIns="36576" bIns="36576" wrap="square">
            <a:noAutofit/>
          </a:bodyPr>
          <a:lstStyle/>
          <a:p>
            <a:pPr algn="ctr"/>
            <a:r>
              <a:rPr sz="1150" b="1" i="0">
                <a:solidFill>
                  <a:srgbClr val="004282"/>
                </a:solidFill>
                <a:latin typeface="Arial"/>
              </a:rPr>
              <a:t>middle  ·  touching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12080" y="4261103"/>
            <a:ext cx="17647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lIns="54864" rIns="54864" tIns="36576" bIns="36576" wrap="square">
            <a:noAutofit/>
          </a:bodyPr>
          <a:lstStyle/>
          <a:p>
            <a:pPr algn="ctr"/>
            <a:r>
              <a:rPr sz="1150" b="1" i="0">
                <a:solidFill>
                  <a:srgbClr val="004282"/>
                </a:solidFill>
                <a:latin typeface="Arial"/>
              </a:rPr>
              <a:t>index  ·  touching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12080" y="4581144"/>
            <a:ext cx="17647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lIns="54864" rIns="54864" tIns="36576" bIns="36576" wrap="square">
            <a:noAutofit/>
          </a:bodyPr>
          <a:lstStyle/>
          <a:p>
            <a:pPr algn="ctr"/>
            <a:r>
              <a:rPr sz="1150" b="0" i="0">
                <a:solidFill>
                  <a:srgbClr val="9AA6B5"/>
                </a:solidFill>
                <a:latin typeface="Arial"/>
              </a:rPr>
              <a:t>ring  ·  apart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88936" y="3959352"/>
            <a:ext cx="1764792" cy="310896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</p:spPr>
        <p:txBody>
          <a:bodyPr rtlCol="0" anchor="ctr" lIns="54864" rIns="54864" tIns="36576" bIns="36576" wrap="square">
            <a:noAutofit/>
          </a:bodyPr>
          <a:lstStyle/>
          <a:p>
            <a:pPr algn="ctr"/>
            <a:r>
              <a:rPr sz="1150" b="0" i="0">
                <a:solidFill>
                  <a:srgbClr val="004282"/>
                </a:solidFill>
                <a:latin typeface="Arial"/>
              </a:rPr>
              <a:t>short touch  →  click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88936" y="4343400"/>
            <a:ext cx="1764792" cy="310896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>
            <a:noFill/>
          </a:ln>
        </p:spPr>
        <p:txBody>
          <a:bodyPr rtlCol="0" anchor="ctr" lIns="54864" rIns="54864" tIns="36576" bIns="36576" wrap="square">
            <a:noAutofit/>
          </a:bodyPr>
          <a:lstStyle/>
          <a:p>
            <a:pPr algn="ctr"/>
            <a:r>
              <a:rPr sz="1150" b="0" i="0">
                <a:solidFill>
                  <a:srgbClr val="004282"/>
                </a:solidFill>
                <a:latin typeface="Arial"/>
              </a:rPr>
              <a:t>all three held  →  drag</a:t>
            </a:r>
          </a:p>
        </p:txBody>
      </p:sp>
      <p:pic>
        <p:nvPicPr>
          <p:cNvPr id="42" name="Picture 41" descr="icon_poin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3848" y="3931920"/>
            <a:ext cx="868680" cy="73837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22960" y="5138928"/>
            <a:ext cx="1056132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0" i="1">
                <a:solidFill>
                  <a:srgbClr val="004282"/>
                </a:solidFill>
                <a:latin typeface="Arial"/>
              </a:rPr>
              <a:t>“The camera supplies keypoints, the recogniser decides which fingers touch, and the interaction layer turns that into a deliberate mouse action.”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004282"/>
                </a:solidFill>
                <a:latin typeface="Arial"/>
              </a:rPr>
              <a:t>Evaluation plan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0E9986C9-A00B-6B19-CEE4-2BAD5640537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37776" y="6492881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 sz="1100">
                <a:latin typeface="Arial"/>
              </a:rPr>
              <a:pPr/>
              <a:t>‹#›</a:t>
            </a:fld>
            <a:endParaRPr lang="en-SG" dirty="0"/>
          </a:p>
        </p:txBody>
      </p:sp>
      <p:sp>
        <p:nvSpPr>
          <p:cNvPr id="5" name="TextBox 4"/>
          <p:cNvSpPr txBox="1"/>
          <p:nvPr/>
        </p:nvSpPr>
        <p:spPr>
          <a:xfrm>
            <a:off x="493776" y="6419088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9AA6B5"/>
                </a:solidFill>
                <a:latin typeface="Arial"/>
              </a:rPr>
              <a:t>1  Objectives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2  Scope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3  Data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1" i="0">
                <a:solidFill>
                  <a:srgbClr val="004282"/>
                </a:solidFill>
                <a:latin typeface="Arial"/>
              </a:rPr>
              <a:t>4  Technical approach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5  Done so far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325880"/>
            <a:ext cx="3611880" cy="347472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1527048"/>
            <a:ext cx="438912" cy="438912"/>
          </a:xfrm>
          <a:prstGeom prst="ellipse">
            <a:avLst/>
          </a:prstGeom>
          <a:solidFill>
            <a:srgbClr val="004282"/>
          </a:solidFill>
          <a:ln>
            <a:noFill/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6736" y="150876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004282"/>
                </a:solidFill>
                <a:latin typeface="Arial"/>
              </a:rPr>
              <a:t>Contact recognition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12848"/>
            <a:ext cx="3154680" cy="2514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5000"/>
              </a:lnSpc>
              <a:spcAft>
                <a:spcPts val="900"/>
              </a:spcAft>
              <a:buClr>
                <a:srgbClr val="007F86"/>
              </a:buClr>
              <a:buSzPct val="85000"/>
              <a:buFont typeface="Arial"/>
              <a:buChar char="■"/>
            </a:pPr>
            <a:r>
              <a:rPr sz="1550" b="0" i="0">
                <a:solidFill>
                  <a:srgbClr val="1F2A37"/>
                </a:solidFill>
                <a:latin typeface="Arial"/>
              </a:rPr>
              <a:t>Three-fold leave-one-person-out: test on a member never seen in training</a:t>
            </a:r>
          </a:p>
          <a:p>
            <a:pPr algn="l" marL="219456" indent="-219456">
              <a:lnSpc>
                <a:spcPct val="105000"/>
              </a:lnSpc>
              <a:spcAft>
                <a:spcPts val="900"/>
              </a:spcAft>
              <a:buClr>
                <a:srgbClr val="007F86"/>
              </a:buClr>
              <a:buSzPct val="85000"/>
              <a:buFont typeface="Arial"/>
              <a:buChar char="■"/>
            </a:pPr>
            <a:r>
              <a:rPr sz="1550" b="0" i="0">
                <a:solidFill>
                  <a:srgbClr val="1F2A37"/>
                </a:solidFill>
                <a:latin typeface="Arial"/>
              </a:rPr>
              <a:t>Random forest and CNN against tuned rules, on the same recordings</a:t>
            </a:r>
          </a:p>
          <a:p>
            <a:pPr algn="l" marL="219456" indent="-219456">
              <a:lnSpc>
                <a:spcPct val="105000"/>
              </a:lnSpc>
              <a:spcAft>
                <a:spcPts val="900"/>
              </a:spcAft>
              <a:buClr>
                <a:srgbClr val="007F86"/>
              </a:buClr>
              <a:buSzPct val="85000"/>
              <a:buFont typeface="Arial"/>
              <a:buChar char="■"/>
            </a:pPr>
            <a:r>
              <a:rPr sz="1550" b="0" i="0">
                <a:solidFill>
                  <a:srgbClr val="1F2A37"/>
                </a:solidFill>
                <a:latin typeface="Arial"/>
              </a:rPr>
              <a:t>Precision, recall, F1; missed and false events; latency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1325880"/>
            <a:ext cx="3611880" cy="347472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44568" y="1527048"/>
            <a:ext cx="438912" cy="438912"/>
          </a:xfrm>
          <a:prstGeom prst="ellipse">
            <a:avLst/>
          </a:prstGeom>
          <a:solidFill>
            <a:srgbClr val="004282"/>
          </a:solidFill>
          <a:ln>
            <a:noFill/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11496" y="150876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004282"/>
                </a:solidFill>
                <a:latin typeface="Arial"/>
              </a:rPr>
              <a:t>Pointer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212848"/>
            <a:ext cx="3154680" cy="2514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5000"/>
              </a:lnSpc>
              <a:spcAft>
                <a:spcPts val="900"/>
              </a:spcAft>
              <a:buClr>
                <a:srgbClr val="007F86"/>
              </a:buClr>
              <a:buSzPct val="85000"/>
              <a:buFont typeface="Arial"/>
              <a:buChar char="■"/>
            </a:pPr>
            <a:r>
              <a:rPr sz="1550" b="0" i="0">
                <a:solidFill>
                  <a:srgbClr val="1F2A37"/>
                </a:solidFill>
                <a:latin typeface="Arial"/>
              </a:rPr>
              <a:t>Basic position mapping against stabilised hand and wrist control</a:t>
            </a:r>
          </a:p>
          <a:p>
            <a:pPr algn="l" marL="219456" indent="-219456">
              <a:lnSpc>
                <a:spcPct val="105000"/>
              </a:lnSpc>
              <a:spcAft>
                <a:spcPts val="900"/>
              </a:spcAft>
              <a:buClr>
                <a:srgbClr val="007F86"/>
              </a:buClr>
              <a:buSzPct val="85000"/>
              <a:buFont typeface="Arial"/>
              <a:buChar char="■"/>
            </a:pPr>
            <a:r>
              <a:rPr sz="1550" b="0" i="0">
                <a:solidFill>
                  <a:srgbClr val="1F2A37"/>
                </a:solidFill>
                <a:latin typeface="Arial"/>
              </a:rPr>
              <a:t>The same recogniser on both sides</a:t>
            </a:r>
          </a:p>
          <a:p>
            <a:pPr algn="l" marL="219456" indent="-219456">
              <a:lnSpc>
                <a:spcPct val="105000"/>
              </a:lnSpc>
              <a:spcAft>
                <a:spcPts val="900"/>
              </a:spcAft>
              <a:buClr>
                <a:srgbClr val="007F86"/>
              </a:buClr>
              <a:buSzPct val="85000"/>
              <a:buFont typeface="Arial"/>
              <a:buChar char="■"/>
            </a:pPr>
            <a:r>
              <a:rPr sz="1550" b="0" i="0">
                <a:solidFill>
                  <a:srgbClr val="1F2A37"/>
                </a:solidFill>
                <a:latin typeface="Arial"/>
              </a:rPr>
              <a:t>Jitter, click displacement, re-grips and corrections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325880"/>
            <a:ext cx="3611880" cy="347472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39327" y="1527048"/>
            <a:ext cx="438912" cy="438912"/>
          </a:xfrm>
          <a:prstGeom prst="ellipse">
            <a:avLst/>
          </a:prstGeom>
          <a:solidFill>
            <a:srgbClr val="004282"/>
          </a:solidFill>
          <a:ln>
            <a:noFill/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06256" y="150876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004282"/>
                </a:solidFill>
                <a:latin typeface="Arial"/>
              </a:rPr>
              <a:t>User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2212848"/>
            <a:ext cx="3154680" cy="2514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5000"/>
              </a:lnSpc>
              <a:spcAft>
                <a:spcPts val="900"/>
              </a:spcAft>
              <a:buClr>
                <a:srgbClr val="007F86"/>
              </a:buClr>
              <a:buSzPct val="85000"/>
              <a:buFont typeface="Arial"/>
              <a:buChar char="■"/>
            </a:pPr>
            <a:r>
              <a:rPr sz="1550" b="0" i="0">
                <a:solidFill>
                  <a:srgbClr val="1F2A37"/>
                </a:solidFill>
                <a:latin typeface="Arial"/>
              </a:rPr>
              <a:t>Internal pilot: three members, three conditions, rotated order</a:t>
            </a:r>
          </a:p>
          <a:p>
            <a:pPr algn="l" marL="219456" indent="-219456">
              <a:lnSpc>
                <a:spcPct val="105000"/>
              </a:lnSpc>
              <a:spcAft>
                <a:spcPts val="900"/>
              </a:spcAft>
              <a:buClr>
                <a:srgbClr val="007F86"/>
              </a:buClr>
              <a:buSzPct val="85000"/>
              <a:buFont typeface="Arial"/>
              <a:buChar char="■"/>
            </a:pPr>
            <a:r>
              <a:rPr sz="1550" b="0" i="0">
                <a:solidFill>
                  <a:srgbClr val="1F2A37"/>
                </a:solidFill>
                <a:latin typeface="Arial"/>
              </a:rPr>
              <a:t>Models trained without the tester's own recordings</a:t>
            </a:r>
          </a:p>
          <a:p>
            <a:pPr algn="l" marL="219456" indent="-219456">
              <a:lnSpc>
                <a:spcPct val="105000"/>
              </a:lnSpc>
              <a:spcAft>
                <a:spcPts val="900"/>
              </a:spcAft>
              <a:buClr>
                <a:srgbClr val="007F86"/>
              </a:buClr>
              <a:buSzPct val="85000"/>
              <a:buFont typeface="Arial"/>
              <a:buChar char="■"/>
            </a:pPr>
            <a:r>
              <a:rPr sz="1550" b="0" i="0">
                <a:solidFill>
                  <a:srgbClr val="1F2A37"/>
                </a:solidFill>
                <a:latin typeface="Arial"/>
              </a:rPr>
              <a:t>Time, errors, effort, preference and NASA-TLX (a standard workload questionnaire)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" y="4956048"/>
            <a:ext cx="1120140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FD8E3"/>
            </a:solidFill>
          </a:ln>
        </p:spPr>
        <p:txBody>
          <a:bodyPr rtlCol="0" anchor="ctr" lIns="228600" rIns="228600" tIns="36576" bIns="36576" wrap="square">
            <a:noAutofit/>
          </a:bodyPr>
          <a:lstStyle/>
          <a:p>
            <a:pPr algn="l"/>
            <a:r>
              <a:rPr sz="1350" b="1" i="0">
                <a:solidFill>
                  <a:srgbClr val="004282"/>
                </a:solidFill>
                <a:latin typeface="Arial"/>
              </a:rPr>
              <a:t>Autoencoder pretraining (second priority): </a:t>
            </a:r>
            <a:r>
              <a:rPr sz="1350" b="0" i="0">
                <a:solidFill>
                  <a:srgbClr val="1F2A37"/>
                </a:solidFill>
                <a:latin typeface="Arial"/>
              </a:rPr>
              <a:t>the same CNN with and without it, at 25%, 50% and all labels; results by hand orientation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" y="5632704"/>
            <a:ext cx="112014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50" b="0" i="1">
                <a:solidFill>
                  <a:srgbClr val="004282"/>
                </a:solidFill>
                <a:latin typeface="Arial"/>
              </a:rPr>
              <a:t>The test member never guides training or tuning  ·  settings are frozen before each test  ·  three developer-testers give an internal pilot only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004282"/>
                </a:solidFill>
                <a:latin typeface="Arial"/>
              </a:rPr>
              <a:t>Main risks and how we will handle them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0E9986C9-A00B-6B19-CEE4-2BAD5640537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37776" y="6492881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 sz="1100">
                <a:latin typeface="Arial"/>
              </a:rPr>
              <a:pPr/>
              <a:t>‹#›</a:t>
            </a:fld>
            <a:endParaRPr lang="en-SG" dirty="0"/>
          </a:p>
        </p:txBody>
      </p:sp>
      <p:sp>
        <p:nvSpPr>
          <p:cNvPr id="5" name="TextBox 4"/>
          <p:cNvSpPr txBox="1"/>
          <p:nvPr/>
        </p:nvSpPr>
        <p:spPr>
          <a:xfrm>
            <a:off x="493776" y="6419088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9AA6B5"/>
                </a:solidFill>
                <a:latin typeface="Arial"/>
              </a:rPr>
              <a:t>1  Objectives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2  Scope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3  Data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1" i="0">
                <a:solidFill>
                  <a:srgbClr val="004282"/>
                </a:solidFill>
                <a:latin typeface="Arial"/>
              </a:rPr>
              <a:t>4  Technical approach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5  Done so far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371600"/>
            <a:ext cx="11201400" cy="12801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86384" y="1783080"/>
            <a:ext cx="457200" cy="45720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463040"/>
            <a:ext cx="379476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B45309"/>
                </a:solidFill>
                <a:latin typeface="Arial"/>
              </a:rPr>
              <a:t>RISK</a:t>
            </a:r>
          </a:p>
          <a:p>
            <a:pPr algn="l">
              <a:lnSpc>
                <a:spcPct val="102000"/>
              </a:lnSpc>
            </a:pPr>
            <a:r>
              <a:rPr sz="1800" b="1" i="0">
                <a:solidFill>
                  <a:srgbClr val="004282"/>
                </a:solidFill>
                <a:latin typeface="Arial"/>
              </a:rPr>
              <a:t>Three people are a small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463040"/>
            <a:ext cx="589788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07F86"/>
                </a:solidFill>
                <a:latin typeface="Arial"/>
              </a:rPr>
              <a:t>HOW WE WILL HANDLE IT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A37"/>
                </a:solidFill>
                <a:latin typeface="Arial"/>
              </a:rPr>
              <a:t>Test on the member left out of training, report each person separately, and state person and camera effects as limits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" y="2779776"/>
            <a:ext cx="11201400" cy="12801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86384" y="3191256"/>
            <a:ext cx="457200" cy="45720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871216"/>
            <a:ext cx="379476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B45309"/>
                </a:solidFill>
                <a:latin typeface="Arial"/>
              </a:rPr>
              <a:t>RISK</a:t>
            </a:r>
          </a:p>
          <a:p>
            <a:pPr algn="l">
              <a:lnSpc>
                <a:spcPct val="102000"/>
              </a:lnSpc>
            </a:pPr>
            <a:r>
              <a:rPr sz="1800" b="1" i="0">
                <a:solidFill>
                  <a:srgbClr val="004282"/>
                </a:solidFill>
                <a:latin typeface="Arial"/>
              </a:rPr>
              <a:t>Brief contacts are hard to label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871216"/>
            <a:ext cx="589788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07F86"/>
                </a:solidFill>
                <a:latin typeface="Arial"/>
              </a:rPr>
              <a:t>HOW WE WILL HANDLE IT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A37"/>
                </a:solidFill>
                <a:latin typeface="Arial"/>
              </a:rPr>
              <a:t>Prompts organise the trials, uncertain moments are marked instead of guessed, and a second member checks a sample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" y="4187952"/>
            <a:ext cx="11201400" cy="12801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6384" y="4599432"/>
            <a:ext cx="457200" cy="45720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279392"/>
            <a:ext cx="379476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B45309"/>
                </a:solidFill>
                <a:latin typeface="Arial"/>
              </a:rPr>
              <a:t>RISK</a:t>
            </a:r>
          </a:p>
          <a:p>
            <a:pPr algn="l">
              <a:lnSpc>
                <a:spcPct val="102000"/>
              </a:lnSpc>
            </a:pPr>
            <a:r>
              <a:rPr sz="1800" b="1" i="0">
                <a:solidFill>
                  <a:srgbClr val="004282"/>
                </a:solidFill>
                <a:latin typeface="Arial"/>
              </a:rPr>
              <a:t>Learning may not beat tuned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4279392"/>
            <a:ext cx="589788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07F86"/>
                </a:solidFill>
                <a:latin typeface="Arial"/>
              </a:rPr>
              <a:t>HOW WE WILL HANDLE IT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A37"/>
                </a:solidFill>
                <a:latin typeface="Arial"/>
              </a:rPr>
              <a:t>Tuned rules remain the fallback; if data collection slips, the autoencoder experiments are deferred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5623560"/>
            <a:ext cx="112014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004282"/>
                </a:solidFill>
                <a:latin typeface="Arial"/>
              </a:rPr>
              <a:t>Limits we will state: </a:t>
            </a:r>
            <a:r>
              <a:rPr sz="1500" b="0" i="0">
                <a:solidFill>
                  <a:srgbClr val="1F2A37"/>
                </a:solidFill>
                <a:latin typeface="Arial"/>
              </a:rPr>
              <a:t>three developer-testers; one hand and one screen; MediaPipe's tracking errors are inherited.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004282"/>
                </a:solidFill>
                <a:latin typeface="Arial"/>
              </a:rPr>
              <a:t>What we have done so far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0E9986C9-A00B-6B19-CEE4-2BAD5640537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37776" y="6492881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 sz="1100">
                <a:latin typeface="Arial"/>
              </a:rPr>
              <a:pPr/>
              <a:t>‹#›</a:t>
            </a:fld>
            <a:endParaRPr lang="en-SG" dirty="0"/>
          </a:p>
        </p:txBody>
      </p:sp>
      <p:sp>
        <p:nvSpPr>
          <p:cNvPr id="5" name="TextBox 4"/>
          <p:cNvSpPr txBox="1"/>
          <p:nvPr/>
        </p:nvSpPr>
        <p:spPr>
          <a:xfrm>
            <a:off x="493776" y="6419088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9AA6B5"/>
                </a:solidFill>
                <a:latin typeface="Arial"/>
              </a:rPr>
              <a:t>1  Objectives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2  Scope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3  Data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4  Technical approach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1" i="0">
                <a:solidFill>
                  <a:srgbClr val="004282"/>
                </a:solidFill>
                <a:latin typeface="Arial"/>
              </a:rPr>
              <a:t>5  Done so far</a:t>
            </a:r>
          </a:p>
        </p:txBody>
      </p:sp>
      <p:pic>
        <p:nvPicPr>
          <p:cNvPr id="6" name="Picture 5" descr="prototype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298448"/>
            <a:ext cx="5029200" cy="3353848"/>
          </a:xfrm>
          <a:prstGeom prst="rect">
            <a:avLst/>
          </a:prstGeom>
          <a:ln w="9525">
            <a:solidFill>
              <a:srgbClr val="CFD8E3"/>
            </a:solidFill>
          </a:ln>
        </p:spPr>
      </p:pic>
      <p:sp>
        <p:nvSpPr>
          <p:cNvPr id="7" name="Oval 6"/>
          <p:cNvSpPr/>
          <p:nvPr/>
        </p:nvSpPr>
        <p:spPr>
          <a:xfrm>
            <a:off x="1692554" y="1850345"/>
            <a:ext cx="237744" cy="237744"/>
          </a:xfrm>
          <a:prstGeom prst="ellipse">
            <a:avLst/>
          </a:prstGeom>
          <a:solidFill>
            <a:srgbClr val="F58220"/>
          </a:solidFill>
          <a:ln w="15875">
            <a:solidFill>
              <a:srgbClr val="FFFFFF"/>
            </a:solidFill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493776" y="4798600"/>
            <a:ext cx="237744" cy="237744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803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1F2A37"/>
                </a:solidFill>
                <a:latin typeface="Arial"/>
              </a:rPr>
              <a:t>Live hand tracking</a:t>
            </a:r>
          </a:p>
        </p:txBody>
      </p:sp>
      <p:sp>
        <p:nvSpPr>
          <p:cNvPr id="10" name="Oval 9"/>
          <p:cNvSpPr/>
          <p:nvPr/>
        </p:nvSpPr>
        <p:spPr>
          <a:xfrm>
            <a:off x="2386584" y="3305915"/>
            <a:ext cx="237744" cy="237744"/>
          </a:xfrm>
          <a:prstGeom prst="ellipse">
            <a:avLst/>
          </a:prstGeom>
          <a:solidFill>
            <a:srgbClr val="F58220"/>
          </a:solidFill>
          <a:ln w="15875">
            <a:solidFill>
              <a:srgbClr val="FFFFFF"/>
            </a:solidFill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3008376" y="4798600"/>
            <a:ext cx="237744" cy="237744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47803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1F2A37"/>
                </a:solidFill>
                <a:latin typeface="Arial"/>
              </a:rPr>
              <a:t>State: grip engaged</a:t>
            </a:r>
          </a:p>
        </p:txBody>
      </p:sp>
      <p:sp>
        <p:nvSpPr>
          <p:cNvPr id="13" name="Oval 12"/>
          <p:cNvSpPr/>
          <p:nvPr/>
        </p:nvSpPr>
        <p:spPr>
          <a:xfrm>
            <a:off x="5026914" y="2869915"/>
            <a:ext cx="237744" cy="237744"/>
          </a:xfrm>
          <a:prstGeom prst="ellipse">
            <a:avLst/>
          </a:prstGeom>
          <a:solidFill>
            <a:srgbClr val="F58220"/>
          </a:solidFill>
          <a:ln w="15875">
            <a:solidFill>
              <a:srgbClr val="FFFFFF"/>
            </a:solidFill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493776" y="5146072"/>
            <a:ext cx="237744" cy="237744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27784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1F2A37"/>
                </a:solidFill>
                <a:latin typeface="Arial"/>
              </a:rPr>
              <a:t>Gesture switches</a:t>
            </a:r>
          </a:p>
        </p:txBody>
      </p:sp>
      <p:sp>
        <p:nvSpPr>
          <p:cNvPr id="16" name="Oval 15"/>
          <p:cNvSpPr/>
          <p:nvPr/>
        </p:nvSpPr>
        <p:spPr>
          <a:xfrm>
            <a:off x="5127498" y="4040408"/>
            <a:ext cx="237744" cy="237744"/>
          </a:xfrm>
          <a:prstGeom prst="ellipse">
            <a:avLst/>
          </a:prstGeom>
          <a:solidFill>
            <a:srgbClr val="F58220"/>
          </a:solidFill>
          <a:ln w="15875">
            <a:solidFill>
              <a:srgbClr val="FFFFFF"/>
            </a:solidFill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3008376" y="5146072"/>
            <a:ext cx="237744" cy="237744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5127784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1F2A37"/>
                </a:solidFill>
                <a:latin typeface="Arial"/>
              </a:rPr>
              <a:t>Practice and recording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" y="554840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050" b="0" i="1">
                <a:solidFill>
                  <a:srgbClr val="5B6777"/>
                </a:solidFill>
                <a:latin typeface="Arial"/>
              </a:rPr>
              <a:t>Screen from our early prototype with the live camera. The interface text is in Chinese for now.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1298448"/>
            <a:ext cx="5934455" cy="2395728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142646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 i="0">
                <a:solidFill>
                  <a:srgbClr val="007F86"/>
                </a:solidFill>
                <a:latin typeface="Arial"/>
              </a:rPr>
              <a:t>DONE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1426464"/>
            <a:ext cx="3968496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50" b="0" i="1">
                <a:solidFill>
                  <a:srgbClr val="5B6777"/>
                </a:solidFill>
                <a:latin typeface="Arial"/>
              </a:rPr>
              <a:t>mostly design</a:t>
            </a:r>
          </a:p>
        </p:txBody>
      </p:sp>
      <p:sp>
        <p:nvSpPr>
          <p:cNvPr id="23" name="Oval 22"/>
          <p:cNvSpPr/>
          <p:nvPr/>
        </p:nvSpPr>
        <p:spPr>
          <a:xfrm>
            <a:off x="5989320" y="1728216"/>
            <a:ext cx="237744" cy="237744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1746504"/>
            <a:ext cx="518464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 i="0">
                <a:solidFill>
                  <a:srgbClr val="004282"/>
                </a:solidFill>
                <a:latin typeface="Arial"/>
              </a:rPr>
              <a:t>Interaction concept</a:t>
            </a:r>
            <a:r>
              <a:rPr sz="1300" b="0" i="0">
                <a:solidFill>
                  <a:srgbClr val="1F2A37"/>
                </a:solidFill>
                <a:latin typeface="Arial"/>
              </a:rPr>
              <a:t>: supported forearm, small movements, pause and re-grip</a:t>
            </a:r>
          </a:p>
        </p:txBody>
      </p:sp>
      <p:sp>
        <p:nvSpPr>
          <p:cNvPr id="25" name="Oval 24"/>
          <p:cNvSpPr/>
          <p:nvPr/>
        </p:nvSpPr>
        <p:spPr>
          <a:xfrm>
            <a:off x="5989320" y="2185416"/>
            <a:ext cx="237744" cy="237744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2203704"/>
            <a:ext cx="518464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 i="0">
                <a:solidFill>
                  <a:srgbClr val="004282"/>
                </a:solidFill>
                <a:latin typeface="Arial"/>
              </a:rPr>
              <a:t>Gesture set (provisional)</a:t>
            </a:r>
            <a:r>
              <a:rPr sz="1300" b="0" i="0">
                <a:solidFill>
                  <a:srgbClr val="1F2A37"/>
                </a:solidFill>
                <a:latin typeface="Arial"/>
              </a:rPr>
              <a:t>: move, click, right click, drag, scroll, pause; tried in an early prototype</a:t>
            </a:r>
          </a:p>
        </p:txBody>
      </p:sp>
      <p:sp>
        <p:nvSpPr>
          <p:cNvPr id="27" name="Oval 26"/>
          <p:cNvSpPr/>
          <p:nvPr/>
        </p:nvSpPr>
        <p:spPr>
          <a:xfrm>
            <a:off x="5989320" y="2642616"/>
            <a:ext cx="237744" cy="237744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2660904"/>
            <a:ext cx="518464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 i="0">
                <a:solidFill>
                  <a:srgbClr val="004282"/>
                </a:solidFill>
                <a:latin typeface="Arial"/>
              </a:rPr>
              <a:t>Tools and methods chosen</a:t>
            </a:r>
            <a:r>
              <a:rPr sz="1300" b="0" i="0">
                <a:solidFill>
                  <a:srgbClr val="1F2A37"/>
                </a:solidFill>
                <a:latin typeface="Arial"/>
              </a:rPr>
              <a:t>: MediaPipe keypoints; Python and PySide6; rules, random forest, temporal CNN</a:t>
            </a:r>
          </a:p>
        </p:txBody>
      </p:sp>
      <p:sp>
        <p:nvSpPr>
          <p:cNvPr id="29" name="Oval 28"/>
          <p:cNvSpPr/>
          <p:nvPr/>
        </p:nvSpPr>
        <p:spPr>
          <a:xfrm>
            <a:off x="5989320" y="3099816"/>
            <a:ext cx="237744" cy="237744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txBody>
          <a:bodyPr rtlCol="0" anchor="ctr" lIns="0" rIns="0" tIns="36576" bIns="36576" wrap="square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3118104"/>
            <a:ext cx="518464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 i="0">
                <a:solidFill>
                  <a:srgbClr val="004282"/>
                </a:solidFill>
                <a:latin typeface="Arial"/>
              </a:rPr>
              <a:t>Training and evaluation method designed</a:t>
            </a:r>
            <a:r>
              <a:rPr sz="1300" b="0" i="0">
                <a:solidFill>
                  <a:srgbClr val="1F2A37"/>
                </a:solidFill>
                <a:latin typeface="Arial"/>
              </a:rPr>
              <a:t>: leave-one-person-out; checked on synthetic samples only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0" y="3822191"/>
            <a:ext cx="5934455" cy="2395728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89320" y="3950207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 i="0">
                <a:solidFill>
                  <a:srgbClr val="B45309"/>
                </a:solidFill>
                <a:latin typeface="Arial"/>
              </a:rPr>
              <a:t>NOT YET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3950207"/>
            <a:ext cx="3968496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150" b="0" i="1">
                <a:solidFill>
                  <a:srgbClr val="5B6777"/>
                </a:solidFill>
                <a:latin typeface="Arial"/>
              </a:rPr>
              <a:t>no accuracy numbers are claimed today</a:t>
            </a:r>
          </a:p>
        </p:txBody>
      </p:sp>
      <p:sp>
        <p:nvSpPr>
          <p:cNvPr id="34" name="Oval 33"/>
          <p:cNvSpPr/>
          <p:nvPr/>
        </p:nvSpPr>
        <p:spPr>
          <a:xfrm>
            <a:off x="5998464" y="4261103"/>
            <a:ext cx="219456" cy="21945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58220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7648" y="4270247"/>
            <a:ext cx="518464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 i="0">
                <a:solidFill>
                  <a:srgbClr val="004282"/>
                </a:solidFill>
                <a:latin typeface="Arial"/>
              </a:rPr>
              <a:t>Team recordings</a:t>
            </a:r>
            <a:r>
              <a:rPr sz="1300" b="0" i="0">
                <a:solidFill>
                  <a:srgbClr val="1F2A37"/>
                </a:solidFill>
                <a:latin typeface="Arial"/>
              </a:rPr>
              <a:t>: three members, at least three sessions each; recording starts on 7 October</a:t>
            </a:r>
          </a:p>
        </p:txBody>
      </p:sp>
      <p:sp>
        <p:nvSpPr>
          <p:cNvPr id="36" name="Oval 35"/>
          <p:cNvSpPr/>
          <p:nvPr/>
        </p:nvSpPr>
        <p:spPr>
          <a:xfrm>
            <a:off x="5998464" y="4718303"/>
            <a:ext cx="219456" cy="21945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58220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27648" y="4727447"/>
            <a:ext cx="518464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 i="0">
                <a:solidFill>
                  <a:srgbClr val="004282"/>
                </a:solidFill>
                <a:latin typeface="Arial"/>
              </a:rPr>
              <a:t>Reviewed labels</a:t>
            </a:r>
            <a:r>
              <a:rPr sz="1300" b="0" i="0">
                <a:solidFill>
                  <a:srgbClr val="1F2A37"/>
                </a:solidFill>
                <a:latin typeface="Arial"/>
              </a:rPr>
              <a:t>: the recording protocol is piloted first; a second member checks a sample</a:t>
            </a:r>
          </a:p>
        </p:txBody>
      </p:sp>
      <p:sp>
        <p:nvSpPr>
          <p:cNvPr id="38" name="Oval 37"/>
          <p:cNvSpPr/>
          <p:nvPr/>
        </p:nvSpPr>
        <p:spPr>
          <a:xfrm>
            <a:off x="5998464" y="5175503"/>
            <a:ext cx="219456" cy="21945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58220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27648" y="5184647"/>
            <a:ext cx="518464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 i="0">
                <a:solidFill>
                  <a:srgbClr val="004282"/>
                </a:solidFill>
                <a:latin typeface="Arial"/>
              </a:rPr>
              <a:t>Model results on real data</a:t>
            </a:r>
            <a:r>
              <a:rPr sz="1300" b="0" i="0">
                <a:solidFill>
                  <a:srgbClr val="1F2A37"/>
                </a:solidFill>
                <a:latin typeface="Arial"/>
              </a:rPr>
              <a:t>: tuned rules, random forest, temporal CNN; autoencoder second</a:t>
            </a:r>
          </a:p>
        </p:txBody>
      </p:sp>
      <p:sp>
        <p:nvSpPr>
          <p:cNvPr id="40" name="Oval 39"/>
          <p:cNvSpPr/>
          <p:nvPr/>
        </p:nvSpPr>
        <p:spPr>
          <a:xfrm>
            <a:off x="5998464" y="5632703"/>
            <a:ext cx="219456" cy="21945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58220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27648" y="5641847"/>
            <a:ext cx="518464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 i="0">
                <a:solidFill>
                  <a:srgbClr val="004282"/>
                </a:solidFill>
                <a:latin typeface="Arial"/>
              </a:rPr>
              <a:t>Learned control and internal pilot</a:t>
            </a:r>
            <a:r>
              <a:rPr sz="1300" b="0" i="0">
                <a:solidFill>
                  <a:srgbClr val="1F2A37"/>
                </a:solidFill>
                <a:latin typeface="Arial"/>
              </a:rPr>
              <a:t>: a learned recogniser in live use; three members, three conditions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004282"/>
                </a:solidFill>
                <a:latin typeface="Arial"/>
              </a:rPr>
              <a:t>Work plan and next steps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0E9986C9-A00B-6B19-CEE4-2BAD5640537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37776" y="6492881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 sz="1100">
                <a:latin typeface="Arial"/>
              </a:rPr>
              <a:pPr/>
              <a:t>‹#›</a:t>
            </a:fld>
            <a:endParaRPr lang="en-SG" dirty="0"/>
          </a:p>
        </p:txBody>
      </p:sp>
      <p:sp>
        <p:nvSpPr>
          <p:cNvPr id="5" name="TextBox 4"/>
          <p:cNvSpPr txBox="1"/>
          <p:nvPr/>
        </p:nvSpPr>
        <p:spPr>
          <a:xfrm>
            <a:off x="493776" y="6419088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9AA6B5"/>
                </a:solidFill>
                <a:latin typeface="Arial"/>
              </a:rPr>
              <a:t>1  Objectives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2  Scope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3  Data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0" i="0">
                <a:solidFill>
                  <a:srgbClr val="9AA6B5"/>
                </a:solidFill>
                <a:latin typeface="Arial"/>
              </a:rPr>
              <a:t>4  Technical approach</a:t>
            </a:r>
            <a:r>
              <a:rPr sz="1050" b="0" i="0">
                <a:solidFill>
                  <a:srgbClr val="CFD8E3"/>
                </a:solidFill>
                <a:latin typeface="Arial"/>
              </a:rPr>
              <a:t>   ·   </a:t>
            </a:r>
            <a:r>
              <a:rPr sz="1050" b="1" i="0">
                <a:solidFill>
                  <a:srgbClr val="004282"/>
                </a:solidFill>
                <a:latin typeface="Arial"/>
              </a:rPr>
              <a:t>5  Done so far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2121408"/>
            <a:ext cx="10744200" cy="0"/>
          </a:xfrm>
          <a:prstGeom prst="line">
            <a:avLst/>
          </a:prstGeom>
          <a:ln w="28575">
            <a:solidFill>
              <a:srgbClr val="004282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493776" y="1417320"/>
            <a:ext cx="2093976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900" b="1" i="0">
                <a:solidFill>
                  <a:srgbClr val="004282"/>
                </a:solidFill>
                <a:latin typeface="Arial"/>
              </a:rPr>
              <a:t>By 6 Oct</a:t>
            </a:r>
          </a:p>
        </p:txBody>
      </p:sp>
      <p:sp>
        <p:nvSpPr>
          <p:cNvPr id="8" name="Oval 7"/>
          <p:cNvSpPr/>
          <p:nvPr/>
        </p:nvSpPr>
        <p:spPr>
          <a:xfrm>
            <a:off x="1403604" y="1984248"/>
            <a:ext cx="274320" cy="274320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3776" y="2514600"/>
            <a:ext cx="2093976" cy="2606040"/>
          </a:xfrm>
          <a:prstGeom prst="roundRect">
            <a:avLst>
              <a:gd name="adj" fmla="val 5000"/>
            </a:avLst>
          </a:prstGeom>
          <a:solidFill>
            <a:srgbClr val="E3F6F7"/>
          </a:solidFill>
          <a:ln w="9525">
            <a:solidFill>
              <a:srgbClr val="00B6BD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2670048"/>
            <a:ext cx="1764792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 i="0">
                <a:solidFill>
                  <a:srgbClr val="004282"/>
                </a:solidFill>
                <a:latin typeface="Arial"/>
              </a:rPr>
              <a:t>Demo and protocol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5B6777"/>
                </a:solidFill>
                <a:latin typeface="Arial"/>
              </a:rPr>
              <a:t>DONE WHEN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A37"/>
                </a:solidFill>
                <a:latin typeface="Arial"/>
              </a:rPr>
              <a:t>Basic desktop demo; pilot recording protocol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4663440"/>
            <a:ext cx="172821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lIns="54864" rIns="54864" tIns="36576" bIns="36576" wrap="square">
            <a:noAutofit/>
          </a:bodyPr>
          <a:lstStyle/>
          <a:p>
            <a:pPr algn="ctr"/>
            <a:r>
              <a:rPr sz="1200" b="1" i="0">
                <a:solidFill>
                  <a:srgbClr val="007F86"/>
                </a:solidFill>
                <a:latin typeface="Arial"/>
              </a:rPr>
              <a:t>Demo reached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2" y="1417320"/>
            <a:ext cx="2093976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900" b="1" i="0">
                <a:solidFill>
                  <a:srgbClr val="004282"/>
                </a:solidFill>
                <a:latin typeface="Arial"/>
              </a:rPr>
              <a:t>By 16 Oct</a:t>
            </a:r>
          </a:p>
        </p:txBody>
      </p:sp>
      <p:sp>
        <p:nvSpPr>
          <p:cNvPr id="13" name="Oval 12"/>
          <p:cNvSpPr/>
          <p:nvPr/>
        </p:nvSpPr>
        <p:spPr>
          <a:xfrm>
            <a:off x="3680460" y="1984248"/>
            <a:ext cx="274320" cy="27432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70632" y="2514600"/>
            <a:ext cx="2093976" cy="260604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53512" y="2670048"/>
            <a:ext cx="1764792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 i="0">
                <a:solidFill>
                  <a:srgbClr val="004282"/>
                </a:solidFill>
                <a:latin typeface="Arial"/>
              </a:rPr>
              <a:t>Control and data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5B6777"/>
                </a:solidFill>
                <a:latin typeface="Arial"/>
              </a:rPr>
              <a:t>DONE WHEN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A37"/>
                </a:solidFill>
                <a:latin typeface="Arial"/>
              </a:rPr>
              <a:t>Refined hand and wrist control; team recordings collected, labels reviewed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1417320"/>
            <a:ext cx="2093976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900" b="1" i="0">
                <a:solidFill>
                  <a:srgbClr val="004282"/>
                </a:solidFill>
                <a:latin typeface="Arial"/>
              </a:rPr>
              <a:t>By 23 Oct</a:t>
            </a:r>
          </a:p>
        </p:txBody>
      </p:sp>
      <p:sp>
        <p:nvSpPr>
          <p:cNvPr id="17" name="Oval 16"/>
          <p:cNvSpPr/>
          <p:nvPr/>
        </p:nvSpPr>
        <p:spPr>
          <a:xfrm>
            <a:off x="5957316" y="1984248"/>
            <a:ext cx="274320" cy="27432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47488" y="2514600"/>
            <a:ext cx="2093976" cy="260604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0368" y="2670048"/>
            <a:ext cx="1764792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 i="0">
                <a:solidFill>
                  <a:srgbClr val="004282"/>
                </a:solidFill>
                <a:latin typeface="Arial"/>
              </a:rPr>
              <a:t>Models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5B6777"/>
                </a:solidFill>
                <a:latin typeface="Arial"/>
              </a:rPr>
              <a:t>DONE WHEN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A37"/>
                </a:solidFill>
                <a:latin typeface="Arial"/>
              </a:rPr>
              <a:t>Rules, random forest and CNN compared; configurations frozen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24344" y="1417320"/>
            <a:ext cx="2093976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900" b="1" i="0">
                <a:solidFill>
                  <a:srgbClr val="004282"/>
                </a:solidFill>
                <a:latin typeface="Arial"/>
              </a:rPr>
              <a:t>By 27 Oct</a:t>
            </a:r>
          </a:p>
        </p:txBody>
      </p:sp>
      <p:sp>
        <p:nvSpPr>
          <p:cNvPr id="21" name="Oval 20"/>
          <p:cNvSpPr/>
          <p:nvPr/>
        </p:nvSpPr>
        <p:spPr>
          <a:xfrm>
            <a:off x="8234172" y="1984248"/>
            <a:ext cx="274320" cy="27432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24344" y="2514600"/>
            <a:ext cx="2093976" cy="260604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07224" y="2670048"/>
            <a:ext cx="1764792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 i="0">
                <a:solidFill>
                  <a:srgbClr val="004282"/>
                </a:solidFill>
                <a:latin typeface="Arial"/>
              </a:rPr>
              <a:t>Internal pilot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5B6777"/>
                </a:solidFill>
                <a:latin typeface="Arial"/>
              </a:rPr>
              <a:t>DONE WHEN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A37"/>
                </a:solidFill>
                <a:latin typeface="Arial"/>
              </a:rPr>
              <a:t>Three members, three conditions; results per person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1417320"/>
            <a:ext cx="2093976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900" b="1" i="0">
                <a:solidFill>
                  <a:srgbClr val="004282"/>
                </a:solidFill>
                <a:latin typeface="Arial"/>
              </a:rPr>
              <a:t>By 31 Oct</a:t>
            </a:r>
          </a:p>
        </p:txBody>
      </p:sp>
      <p:sp>
        <p:nvSpPr>
          <p:cNvPr id="25" name="Oval 24"/>
          <p:cNvSpPr/>
          <p:nvPr/>
        </p:nvSpPr>
        <p:spPr>
          <a:xfrm>
            <a:off x="10511028" y="1984248"/>
            <a:ext cx="274320" cy="27432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01200" y="2514600"/>
            <a:ext cx="2093976" cy="260604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CFD8E3"/>
            </a:solidFill>
          </a:ln>
        </p:spPr>
        <p:txBody>
          <a:bodyPr rtlCol="0" anchor="ctr" lIns="109728" rIns="109728" tIns="36576" bIns="36576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2670048"/>
            <a:ext cx="1764792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 i="0">
                <a:solidFill>
                  <a:srgbClr val="004282"/>
                </a:solidFill>
                <a:latin typeface="Arial"/>
              </a:rPr>
              <a:t>Deliverables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5B6777"/>
                </a:solidFill>
                <a:latin typeface="Arial"/>
              </a:rPr>
              <a:t>DONE WHEN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A37"/>
                </a:solidFill>
                <a:latin typeface="Arial"/>
              </a:rPr>
              <a:t>macOS and Windows builds, dataset, report, slides and video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" y="5394960"/>
            <a:ext cx="112014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0" i="1">
                <a:solidFill>
                  <a:srgbClr val="004282"/>
                </a:solidFill>
                <a:latin typeface="Arial"/>
              </a:rPr>
              <a:t>We would welcome your feedback on the data plan and these priorities.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004282"/>
                </a:solidFill>
                <a:latin typeface="Arial"/>
              </a:rPr>
              <a:t>AI tool declaration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0E9986C9-A00B-6B19-CEE4-2BAD5640537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37776" y="6492881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 sz="1100">
                <a:latin typeface="Arial"/>
              </a:rPr>
              <a:pPr/>
              <a:t>‹#›</a:t>
            </a:fld>
            <a:endParaRPr lang="en-SG" dirty="0"/>
          </a:p>
        </p:txBody>
      </p:sp>
      <p:sp>
        <p:nvSpPr>
          <p:cNvPr id="5" name="Rounded Rectangle 4"/>
          <p:cNvSpPr/>
          <p:nvPr/>
        </p:nvSpPr>
        <p:spPr>
          <a:xfrm>
            <a:off x="493776" y="1463040"/>
            <a:ext cx="11201400" cy="237744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9525">
            <a:solidFill>
              <a:srgbClr val="CFD8E3"/>
            </a:solidFill>
          </a:ln>
        </p:spPr>
        <p:txBody>
          <a:bodyPr rtlCol="0" anchor="ctr" lIns="365760" rIns="365760" tIns="36576" bIns="36576" wrap="square">
            <a:no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800" b="0" i="0">
                <a:solidFill>
                  <a:srgbClr val="1F2A37"/>
                </a:solidFill>
                <a:latin typeface="Arial"/>
              </a:rPr>
              <a:t>OpenAI Codex and Anthropic Claude assisted with source research, proposal drafting, translation, review, figure design and document layout, and with preparing this presentation. The interface on slide 6 is a concept drawing; the screen on slide 14 is captured from our own early prototype, which was also developed with AI coding assistance.</a:t>
            </a:r>
          </a:p>
          <a:p>
            <a:pPr algn="l"/>
            <a:r>
              <a:rPr sz="1800" b="1" i="0">
                <a:solidFill>
                  <a:srgbClr val="004282"/>
                </a:solidFill>
                <a:latin typeface="Arial"/>
              </a:rPr>
              <a:t>The team is responsible for all content.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004282"/>
                </a:solidFill>
                <a:latin typeface="Arial"/>
              </a:rPr>
              <a:t>Appendix A: evaluation details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0E9986C9-A00B-6B19-CEE4-2BAD5640537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37776" y="6492881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 sz="1100">
                <a:latin typeface="Arial"/>
              </a:rPr>
              <a:pPr/>
              <a:t>‹#›</a:t>
            </a:fld>
            <a:endParaRPr lang="en-SG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93776" y="1298448"/>
          <a:ext cx="11201400" cy="4187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4600"/>
                <a:gridCol w="4663440"/>
                <a:gridCol w="4023360"/>
              </a:tblGrid>
              <a:tr h="438912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00428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Baseline or comparison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00428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Main measures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004282"/>
                    </a:solidFill>
                  </a:tcPr>
                </a:tc>
              </a:tr>
              <a:tr h="74980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400" b="1" i="0">
                          <a:solidFill>
                            <a:srgbClr val="1F2A37"/>
                          </a:solidFill>
                          <a:latin typeface="Arial"/>
                        </a:rPr>
                        <a:t>Contact recognition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Arial"/>
                        </a:rPr>
                        <a:t>Random forest and CNN against tuned geometric rules, on the same held-out recordings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Arial"/>
                        </a:rPr>
                        <a:t>Precision, recall, F1; missed and false events; unavailable input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400" b="1" i="0">
                          <a:solidFill>
                            <a:srgbClr val="1F2A37"/>
                          </a:solidFill>
                          <a:latin typeface="Arial"/>
                        </a:rPr>
                        <a:t>Autoencoder pretraining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Arial"/>
                        </a:rPr>
                        <a:t>The same CNN with and without pretraining, at three label budgets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Arial"/>
                        </a:rPr>
                        <a:t>F1, missed and false events, latency; results by posture group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74980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400" b="1" i="0">
                          <a:solidFill>
                            <a:srgbClr val="1F2A37"/>
                          </a:solidFill>
                          <a:latin typeface="Arial"/>
                        </a:rPr>
                        <a:t>Pointer control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Arial"/>
                        </a:rPr>
                        <a:t>Basic mapping against stabilised hand and wrist control; same recogniser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Arial"/>
                        </a:rPr>
                        <a:t>Jitter, click displacement, movement, re-grips and corrections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400" b="1" i="0">
                          <a:solidFill>
                            <a:srgbClr val="1F2A37"/>
                          </a:solidFill>
                          <a:latin typeface="Arial"/>
                        </a:rPr>
                        <a:t>User tasks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Arial"/>
                        </a:rPr>
                        <a:t>Basic rules; stabilised rules; stabilised control with learned recognition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Arial"/>
                        </a:rPr>
                        <a:t>Completion, time, errors, effort, NASA-TLX and preference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74980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400" b="1" i="0">
                          <a:solidFill>
                            <a:srgbClr val="1F2A37"/>
                          </a:solidFill>
                          <a:latin typeface="Arial"/>
                        </a:rPr>
                        <a:t>Product reference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Arial"/>
                        </a:rPr>
                        <a:t>Mouse or trackpad; optional Pawvis on the same Mac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Arial"/>
                        </a:rPr>
                        <a:t>Task performance and experience across products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93776" y="5669280"/>
            <a:ext cx="112014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0" i="1">
                <a:solidFill>
                  <a:srgbClr val="5B6777"/>
                </a:solidFill>
                <a:latin typeface="Arial"/>
              </a:rPr>
              <a:t>Recognition: three-fold leave-one-person-out; pretraining uses only the training partition; settings are frozen before each test.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004282"/>
                </a:solidFill>
                <a:latin typeface="Arial"/>
              </a:rPr>
              <a:t>Appendix B: proposed gestures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0E9986C9-A00B-6B19-CEE4-2BAD5640537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37776" y="6492881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 sz="1100">
                <a:latin typeface="Arial"/>
              </a:rPr>
              <a:pPr/>
              <a:t>‹#›</a:t>
            </a:fld>
            <a:endParaRPr lang="en-SG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93776" y="1298448"/>
          <a:ext cx="11201400" cy="42611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5120640"/>
                <a:gridCol w="379476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Function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00428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Proposed gesture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00428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Design purpose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004282"/>
                    </a:solidFill>
                  </a:tcPr>
                </a:tc>
              </a:tr>
              <a:tr h="64008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350" b="1" i="0">
                          <a:solidFill>
                            <a:srgbClr val="1F2A37"/>
                          </a:solidFill>
                          <a:latin typeface="Arial"/>
                        </a:rPr>
                        <a:t>Point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350" b="0" i="0">
                          <a:solidFill>
                            <a:srgbClr val="1F2A37"/>
                          </a:solidFill>
                          <a:latin typeface="Arial"/>
                        </a:rPr>
                        <a:t>Hold thumb and middle finger together, then move the hand or wrist slightly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350" b="0" i="0">
                          <a:solidFill>
                            <a:srgbClr val="1F2A37"/>
                          </a:solidFill>
                          <a:latin typeface="Arial"/>
                        </a:rPr>
                        <a:t>Small movements with deliberate control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350" b="1" i="0">
                          <a:solidFill>
                            <a:srgbClr val="1F2A37"/>
                          </a:solidFill>
                          <a:latin typeface="Arial"/>
                        </a:rPr>
                        <a:t>Click and double click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350" b="0" i="0">
                          <a:solidFill>
                            <a:srgbClr val="1F2A37"/>
                          </a:solidFill>
                          <a:latin typeface="Arial"/>
                        </a:rPr>
                        <a:t>Touch thumb and index finger, then release; repeat for a double click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350" b="0" i="0">
                          <a:solidFill>
                            <a:srgbClr val="1F2A37"/>
                          </a:solidFill>
                          <a:latin typeface="Arial"/>
                        </a:rPr>
                        <a:t>Active clicks with less target displacement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64008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350" b="1" i="0">
                          <a:solidFill>
                            <a:srgbClr val="1F2A37"/>
                          </a:solidFill>
                          <a:latin typeface="Arial"/>
                        </a:rPr>
                        <a:t>Right click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350" b="0" i="0">
                          <a:solidFill>
                            <a:srgbClr val="1F2A37"/>
                          </a:solidFill>
                          <a:latin typeface="Arial"/>
                        </a:rPr>
                        <a:t>Briefly pinch thumb and ring finger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350" b="0" i="0">
                          <a:solidFill>
                            <a:srgbClr val="1F2A37"/>
                          </a:solidFill>
                          <a:latin typeface="Arial"/>
                        </a:rPr>
                        <a:t>A distinct action for context menus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350" b="1" i="0">
                          <a:solidFill>
                            <a:srgbClr val="1F2A37"/>
                          </a:solidFill>
                          <a:latin typeface="Arial"/>
                        </a:rPr>
                        <a:t>Drag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350" b="0" i="0">
                          <a:solidFill>
                            <a:srgbClr val="1F2A37"/>
                          </a:solidFill>
                          <a:latin typeface="Arial"/>
                        </a:rPr>
                        <a:t>Keep the thumb–middle grip and add the index to the thumb; after a short hold, move; release the index to drop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350" b="0" i="0">
                          <a:solidFill>
                            <a:srgbClr val="1F2A37"/>
                          </a:solidFill>
                          <a:latin typeface="Arial"/>
                        </a:rPr>
                        <a:t>A familiar hold, move and release sequence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64008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350" b="1" i="0">
                          <a:solidFill>
                            <a:srgbClr val="1F2A37"/>
                          </a:solidFill>
                          <a:latin typeface="Arial"/>
                        </a:rPr>
                        <a:t>Scroll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350" b="0" i="0">
                          <a:solidFill>
                            <a:srgbClr val="1F2A37"/>
                          </a:solidFill>
                          <a:latin typeface="Arial"/>
                        </a:rPr>
                        <a:t>Form a V with index and middle fingers and move slightly up or down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350" b="0" i="0">
                          <a:solidFill>
                            <a:srgbClr val="1F2A37"/>
                          </a:solidFill>
                          <a:latin typeface="Arial"/>
                        </a:rPr>
                        <a:t>Read long pages while the pointer stays still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350" b="1" i="0">
                          <a:solidFill>
                            <a:srgbClr val="1F2A37"/>
                          </a:solidFill>
                          <a:latin typeface="Arial"/>
                        </a:rPr>
                        <a:t>Pause and reposition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350" b="0" i="0">
                          <a:solidFill>
                            <a:srgbClr val="1F2A37"/>
                          </a:solidFill>
                          <a:latin typeface="Arial"/>
                        </a:rPr>
                        <a:t>Release the thumb–middle grip, reposition and re-grip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350" b="0" i="0">
                          <a:solidFill>
                            <a:srgbClr val="1F2A37"/>
                          </a:solidFill>
                          <a:latin typeface="Arial"/>
                        </a:rPr>
                        <a:t>Rest, or return inside the camera view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E3"/>
                      </a:solidFill>
                      <a:prstDash val="solid"/>
                    </a:lnL>
                    <a:lnR w="9525" cap="flat" cmpd="sng" algn="ctr">
                      <a:solidFill>
                        <a:srgbClr val="CFD8E3"/>
                      </a:solidFill>
                      <a:prstDash val="solid"/>
                    </a:lnR>
                    <a:lnT w="9525" cap="flat" cmpd="sng" algn="ctr">
                      <a:solidFill>
                        <a:srgbClr val="CFD8E3"/>
                      </a:solidFill>
                      <a:prstDash val="solid"/>
                    </a:lnT>
                    <a:lnB w="9525" cap="flat" cmpd="sng" algn="ctr">
                      <a:solidFill>
                        <a:srgbClr val="CFD8E3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>
  <Application>Microsoft Office PowerPoint</Application>
  <PresentationFormat>Widescreen</PresentationFormat>
  <Slides>18</Slid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PinchPilot – First Project Presentation</dc:title>
  <dc:creator>PRS Practice Module Group 15</dc:creator>
  <cp:lastModifiedBy>PRS Practice Module Group 15</cp:lastModifiedBy>
  <cp:revision>1</cp:revision>
  <dcterms:created xsi:type="dcterms:W3CDTF">2026-10-06T13:34:27Z</dcterms:created>
  <dcterms:modified xsi:type="dcterms:W3CDTF">2026-10-06T13:34:27Z</dcterms:modified>
</cp:coreProperties>
</file>